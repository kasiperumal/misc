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Money stress is invisible to most banks until it turns into a missed payment, a complaint, or a churn event. This use case makes stress observable — and acts on it.
The score combines balance volatility, decline rate, late-night transactions, refund frequency, transfer panic patterns. All transparent to the customer.
When the index spikes, the app shifts into Calm Mode: hides red numbers, hides upsell, surfaces one positive action, offers a free counsellor chat. That single moment of empathy is the highest-ROI brand action we can take.
Q: Could this feel surveillance-y? A: opt-in, customer-visible, explainable. The customer can see exactly what signals fed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Spotify Wrapped, weekly. A 60-second audio narrative every Sunday morning that recaps the customer's money in their tone, their goals, their merchants.
Why weekly? Habits form in 60–90 days. Weekly cadence is the sweet spot for nudging behavior without fatigue.
Voice is the unlock — listening is more emotional than reading, and customers complete a 60-second audio at much higher rates than a one-page PDF.
Q: What if customers don't want it? Opt-in by default; one tap to unsubscribe; cadence configurable (weekly, fortnightly, monthly).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Notifications are usually fact-only — and facts can land badly when the customer is stressed. We keep the facts; we change the framing.
The AI looks at signals — recent declines, late-night app opens, transfer panic — and selects from a library of framings curated by the brand team.
Guardrails: never invent facts, never imply judgment, always offer a concrete next step.
Q: Is this manipulation? A: it's the same fact with kinder framing. We never withhold a true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Elder fraud is the highest-conviction safety gap in retail banking. A 4-hour soft delay on first-time large transfers from 65+ customers prevents the bulk of scam losses without genuinely inconveniencing legitimate transfers.
The trusted-contact layer is the unlock. Many seniors won't admit they were on a scam call — but a family member can see it for what it is.
Q: 'Doesn't this annoy seniors?' A: opt-in. Most opt in. The few who don't get standard speed; the rest get the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Social proof is the most powerful nudge in behavioral finance. Most banks shy away from it because they fear privacy risk. Differential privacy lets us deliver the nudge without exposing any individual.
We focus on the investing gap — it's the category where customers are most behind and most addressable through bank products.
Q: 'Could this feel competitive in a bad way?' A: the framing is gentle and the comparison is anonymized. Customers can hide the feature with one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customer's relationship with their bank should breathe with their life. Modes turn that into a product.
The six modes — Concierge, Background, Co-Pilot, Autonomous, Family, Bereavement — each is a coherent bundle of notification rules, automation level, tone and human-touch policy.
Bereavement Mode is the standout. No other bank does this. The customer remembers who showed up when life broke.
Q: 'How does the bank detect bereavement?' A: opt-in trigger by the customer or a trusted contact; never inferred without consent.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Spotify Wrapped is the most powerful annual marketing moment in tech. Banking has nothing equivalent. This use case captures that same energy.
Why it works: it's celebratory (not a statement), personal (your name, your merchants, your goals), shareable (a card built for Instagram).
Delivery on December 31 is intentional — peak reflection moment, peak social posting moment.
Q: 'What about customers who had a bad year?' A: the narrative is empathetic by design; we lead with effort and growth, not just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Most banks treat money as transactions. This use case treats money as a behavior tied to feelings — which is closer to how customers actually experience it.
The one-tap mood input is the unlock. Anything heavier than one tap won't be done.
Q: 'Is mood data dangerous to hold?' A: opt-in, granular consent, never shared, used only to surface self-awareness moments. Customers can purge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Cards are the most-seen brand asset most banks have — and yet they are visually generic. This use case turns the card into an identity object.
Generative design + brand safety guardrails = millions of unique cards, all on-brand.
The physical card refresh cycle is slow (3–5 years), but digital wallet cards refresh instantly — so this works in both worlds.
Q: 'How do we prevent off-brand designs?' A: every generation passes through a brand-safety model + style guardrails; never live without review for the physical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Every app screams. Notification-less Day is positioning by negation — we promise silence.
It works because we run autonomous-mode actions silently in the background and consolidate everything into one polite end-of-day digest.
The emergency-override rule keeps it safe — true safety alerts (fraud confirmed, card frozen) still fire.
Q: 'Is this a paid feature?' A: optionally gated behind premium; or free with default rules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Most retention spend is loud and reactive — discounts, points, win-back offers. Surprise Drops is quiet and proactive — a small unexpected gift at a high-meaning moment.
The AI picks the moment (savings streak, child's birthday, milestone year) and the gift (coffee, gift voucher, agent free month) per customer.
Low cost per drop, high emotional payoff. Often shared on social media — free brand reach.
Q: 'Does this just become an expectation?' A: irregular cadence + variety prevents anchoring. Customers can't predict when or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Aria is the spike of the entire brand. Every other AI capability either feeds Aria or is delivered through her.
The core breakthrough is persistent, named memory across decades. Customers stop talking to a chatbot and start having an ongoing relationship.
The human-banker handoff is critical — Aria knows when to bring in a human, and the human arrives already briefed.
Q: 'What if the customer doesn't like Aria's persona?' A: they can fire and re-hire a different persona while keeping all their financial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Twin is the financial equivalent of a flight simulator. The customer can try any decision before committing to it.
What makes it sticky: every external account the customer connects, every goal they set, every life event they log makes the Twin more accurate — and therefore more irreplaceable.
The Twin is the product that justifies a premium subscription tier at scale.
Q: 'How accurate can simulations really be?' A: probabilistic, not deterministic. We show ranges, not single numbers, and the customer sees the assumptions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single highest-loyalty-impact use case in the deck. Customers remember the bank that showed up in their worst week for the rest of their life.
The trigger logic must be carefully tuned — too sensitive and we annoy people; too insensitive and we miss the moment. Multi-signal + opt-in trigger from the customer covers both ends.
Q: 'Doesn't pausing EMIs hurt our books?' A: short-term yes, long-term no — customers who experience AutoEmergency become primary-bank lifers.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trust accelerator for everything autonomous. The customer needs to see, with their own money, that the AI's advice would have worked.
We replay every meaningful piece of advice the AI gave over the past 12 months — what would have happened if the customer had followed it.
Used at the right moment, Time-Travel converts skeptics into autonomous-mode users. That's where the real LTV unlock is.
Q: 'What if the AI's advice would have been wrong?' A: we surface that too. Honesty about misses builds more trust than only showing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bank-as-platform play. We don't build every agent ourselves — we curate the best, ensure KYC, own the customer data layer, and take a share of the value created.
Why this matters strategically: if we don't build the marketplace, OpenAI or Apple Intelligence will. And then the bank is one of many APIs they call.
Q: 'Who is responsible if an agent gives bad advice?' A: we ensure KYC, review quality, set policy. The agent provider carries the operational liability but the bank carries reputational risk — so quality controls are tight.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most-leveraged moment in personal finance is the 5 seconds before a purchase. Today the bank is silent then. Whisper Banking puts the bank into that moment, gently.
Bone-conduction and AirPod integration is the unlock — we don't need a screen or attention, just a brief audio cue.
Q: 'Won't this feel creepy?' A: opt-in by category (electronics &gt; ₹20K, dining &gt; ₹5K), and the customer sets the budget that triggers the whisper. The customer is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long-term threat to banks is that horizontal AI assistants (Apple Intelligence, Gemini, Copilot) absorb the customer relationship. The defense is to make our own AI ambient across the customer's existing tools.
OAuth-based invitation keeps the customer in control. They invite Aria; they can revoke at any time.
Q: 'Does this conflict with platform policies?' A: every major platform allows OAuth-based bots. The legal and policy work is non-trivial but achievable.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use case takes the bank from B2C-only to B2C-and-B2C-adjacent. The bank's customer is the retail user; the merchant agent is a free benefit offered to that customer's regular service providers.
Result: the retail customer's vendor graph (maid, driver, tutor, electrician) is on the bank — and we can underwrite working-capital loans to those merchants profitably.
Q: 'Are we becoming a small-business bank?' A: no — these merchants are linked to retail customers, and we serve them as an extension of the retail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most philosophically distinctive use case in the deck. A bank that asks the polite question on behalf of the customer's own stated values.
The ethical AI review board is non-negotiable — we don't want the AI to be moralistic or preachy. The framing must be value-neutral and customer-decided.
Q: 'Could this be politically risky?' A: only if it imposes values. We make the customer state their own values; we just remind them. The customer is always the moral agent.
Closing thought: the deepest brand moats are emotional, not functional. The Financial Conscience is the bank standing with its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01  —  Money Stress Index</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in financial distress often go unnoticed by their bank until a missed payment, decline, or complaint surfaces. By then, trust is broken and the relationship is at risk of churn.</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 composite AI score derived from balance volatility, decline rate, late-night transactions, refund frequency and similar signals. Visible to the customer with full privacy and explainability; triggers a Calm Mode when the score spikes.</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Index jumps from 28 → 71 over two weeks. App quietly switches to Calm Mode, hides red numbers, surfaces one positive action ('move ₹4K to your buffer') and offers a free chat with a financial counsellor.</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Reduces stress-driven churn</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Lowers complaint volume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Supports regulator fair-treatment narrative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Differentiated brand promise — 'a bank that cares'</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Composite scoring ML model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Sentiment + behavioral signal layer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Real-time feature store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Privacy-by-design tokenization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Calm Mode UX overlay</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customer dashboard</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02  —  The Financial Mirror</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Monthly PDF statements go unopened. Habits drift in the wrong direction for months. There is no weekly moment of reflection on the customer's money — and therefore no behavioral correction.</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 weekly 60-second AI-generated personal narrative of the customer's money — voiced like a podcast host, addressed by name — delivered every Sunday morning.</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'Hi Sanjay. Last week you spent ₹14K, ₹3K below your average. Your Goa fund crossed ₹50K — halfway there. One thing to watch: dining is creeping up. Have a good Sunday.'</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Massive engagement lift (weekly Wrapped-style moment)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Builds habit of opening the bank without selling</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High organic social-share rate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Drives behavior change at near-zero CAC</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Low–Medium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LLM narrative generation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TTS voice synthesis (named voice)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Weekly transaction aggregator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Personalization layer (goals, life stage)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Push delivery + listen-in-app</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A/B variant testing</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03  —  Mood-Aware Notification</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Bank notifications use the same tone for everyone — sometimes tone-deaf to the customer's actual emotional state. Over-blunt alerts on a bad day drive opt-outs and complaints.</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AI uses sentiment, transaction context and behavioral signals to detect customer mood. Same factual content, different framing — calm vs anxious, surplus vs squeeze — so notifications match the moment.</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Balance hits ₹2,000. Calm context user: 'Heads-up — you're at ₹2K.' Stressed context user (recent declines, late-night opens): 'You're at ₹2K. Your salary lands in 3 days. Here's one small move to bridge.'</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Higher notification engagement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Lower opt-out rate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Demonstrably lower 'tone-deaf' complaints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Setup for further personalization downstream</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Low–Medium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GenAI tone variation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Sentiment + behavioral signal detector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APNs / FCM push integration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A/B framing variant library</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mood preferences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Brand voice guardrails</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04  —  Anti-Scam Shield (Elderly)</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65+ are disproportionately targeted by phone scams that pressure them into transferring money to new payees. Standard speed-of-payment design works against them.</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For 65+ cohorts, AI is intentionally more conservative — a 4-hour soft delay on first-time transfers above a threshold to a new payee, with an optional trusted-family confirmation channel.</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82-year-old approves a ₹40K transfer to a new payee after a phone call. Bank holds the transfer, alerts the pre-nominated daughter, who recognizes the scam and cancels within 30 minutes. No loss.</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Direct reduction in elder-fraud losses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Deepens trust with families holding multiple accounts at the bank</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Strong regulator narrative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Low-effort, high-impact safety feature</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Age-cohort policy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New-payee risk scorer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Family trusted-contact framework</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SMS + push out-of-band confirmation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consent + audit trail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Regulator reporting hooks</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05  —  Anonymous Peer Benchmarks</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don't know if they're saving enough, spending wisely or behind on investing. Without a reference point, behavior change is hard and abstract.</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Privacy-preserved cohort comparisons. How the customer's spending, saving and investing compares to anonymized people most like them — same city, same income band, same life stage.</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'You spend 23% less on dining than people in your income band in Bangalore. You save 14% more. Your investing is 8% behind. Want me to fix the investing gap?'</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Powerful behavioral nudge with zero individual data exposure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Lifts investing AUM (the most common 'behind' category)</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Unique social signal that competitors can't easily copy</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High customer-engagement moment</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Differential privacy aggregation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Cohort clustering ML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Consented benchmark dataset</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GenAI insight narrative layer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Visualization on mobile dashboard</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Granular opt-out controls</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06  —  Customer Experience Modes</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One-size app behavior — same notifications, automation and tone — doesn't fit the customer's life context. Stressed customers want quiet; couples want shared visibility; bereaved customers want silence.</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 set of selectable modes — Concierge, Background, Co-Pilot, Autonomous, Family, Bereavement — each reshaping notifications, automation, tone and UI to fit the moment.</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After a death in the family, Bereavement Mode silences upsell notifications, dispatches a human banker within 24 hours, and silently handles ~80% of admin (frozen accounts, claim filings, beneficiary outreach).</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Single brand promise — 'a bank that fits your life today'</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Extreme positive moments at the most loaded life events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Differentiated PR/marketing story</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Enables deeper autonomy by mode</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6–12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Mode-driven config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AI life-event signal detection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Tone-adapter LLM</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Notification policy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Human-banker dispatcher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Family / trusted-network linkage</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07  —  The Year in 90 Seconds</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Annual statements are unread. The customer's financial year — wins, losses, goals hit, habits formed — passes without celebration, reflection or shareable storytelling.</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An AI-generated 90-second annual recap of the customer's financial year — Spotify Wrapped for money — delivered on December 31. Personalized voice, motion graphics, shareable card.</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'In 2026 you earned ₹14.4L, saved ₹2.8L, hit your Goa goal, ignored 7 impulse buys, and your net worth grew 11.2%. Your most-used merchant was Swiggy. Here's to 2027.'</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Highest organic social-share moment of the year</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Massive brand reach at near-zero CAC</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Powerful retention anchor — customers remember this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Drives word-of-mouth acquisition</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Low–Medium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Yearly transaction aggregation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Narrative LLM (per-customer voice)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TTS voice synthesis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Motion-graphics renderer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Shareable social-card generator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personalization layer</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08  —  Money &amp; Mood Journal</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spend impulsively on bad days and don't see the pattern. Financial wellness is treated as separate from emotional wellness, even though they are tightly coupled in real life.</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 optionally logs a one-tap mood; AI correlates mood with spending patterns and surfaces the link gently, without judgment. Generates self-aware moments.</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'In the last 60 days, your impulse spending is 3.2× higher on days you logged "stressed." Want me to enable Pause Button on stressed days?'</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Highly differentiated wellness positioning</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Data-rich personalization for downstream products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Powerful PR / brand story</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Lowers chargebacks and buyer-remorse refunds</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One-tap mood logging UX</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Correlation analytics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Impulse-spend detector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Pause Button integration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Privacy and research consent</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research participation</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09  —  Generative Card Design</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Bank cards look the same. In a market where every customer holds 5+ cards, visual sameness undermines bank identity at the moment of use — and at every social moment of payment.</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AI generates a personalized debit/credit card design — physical and digital — from the customer's spending personality, life stage and stated preferences.</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A frequent traveller gets a card visually inspired by their most-visited cities; a parent gets a family-themed card; a music lover gets a card built around their favorite genre. Design refreshes when life stage changes.</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Massive social-share moment at card issuance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Differentiation in a commoditized card market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Supports premium card price points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Visual brand presence at every swipe</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9–12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Spending-personality classifier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Generative image model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Brand-safety guardrails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Print + EMV vendor pipeline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Digital wallet refresh</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Customer co-design UX</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10  —  Notification-less Day</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Notification fatigue erodes engagement. Customers either ignore or mute the bank entirely. The signal-to-noise ratio of bank alerts is industry-wide poor — and customers blame the bank for it.</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Opt-in mode where the bank promises zero notifications for 24 hours, runs everything silently, and sends one curated digest at day-end. Emergencies remain visible.</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Customer on vacation. Bank handles 14 transactions, blocks 2 suspicious attempts, pays 1 bill, rebalances investments by 0.3%, and sends one calm digest at 9 PM: 'All quiet. Here's your day in 6 lines.'</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Anti-attention-economy positioning</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'The bank that doesn't shout'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Strong premium feature, drives tier upsell</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Reduces notification opt-outs across the base</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Low–Medium</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Notification suppression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Daily digest LLM</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Silent autonomous-mode permissions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scheduling UX</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Emergency override rules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Premium-tier gating (optional)</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B31B1B"/>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B31B1B"/>
                </a:solidFill>
                <a:latin typeface="Georgia" pitchFamily="34" charset="0"/>
                <a:ea typeface="Georgia" pitchFamily="34" charset="-122"/>
                <a:cs typeface="Georgia" pitchFamily="34" charset="-120"/>
              </a:rPr>
              <a:t>SHORT-TERM USE CASE 11  —  Surprise Drops</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Banks transact with customers but rarely create moments of joy. The relationship is functional, not emotional. Word-of-mouth is therefore weak — and acquisition cost stays high.</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B31B1B"/>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Unexpected, AI-personalized acts of delight — a free coffee on a stressed day, a small gift on a child's birthday, a free month of an agent on a milestone.</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B31B1B"/>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B31B1B"/>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Customer hits 6-month savings streak. App opens to a small animation: 'Coffee on us today. Tap to redeem at any partner café within 4 hours.'</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B31B1B"/>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Creates positive emotional anchors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Drives word-of-mouth and reduces churn</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Low absolute cost per delight moment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Generates organic social posts</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B31B1B"/>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6–9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B31B1B"/>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Low</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B31B1B"/>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Milestone detection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Partner merchant rewards API</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Personalization layer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Redemption tracking</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Budget allocator (per-cohort)</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A/B emotional-impact testing</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01  —  Aria — the AI Relationship Manager</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cycle through different bank reps over years; each interaction starts from zero. Continuity, memory and personal feel are missing — and yet that's what builds loyalty across decades.</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 named, persistent AI RM with consistent voice, personality and decade-long memory of the customer's life, goals, family and history. Adapts tone by segment; hands off to a named human banker for emotional or regulated moments.</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Aria: 'You mentioned last March that your mother was unwell. I noticed elevated pharmacy spending — should I look at the new senior-care insurance products?' Or: 'I'm bringing in Priya, our home-loan specialist — she'll join us in 2 minutes.'</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Anchor of the entire brand identity</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Primary-bank capture and share-of-wallet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Dramatic NPS uplift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Reduces dependency on costly human RM coverage at scale</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Persistent customer memory store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Multi-agent LangGraph orchestration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Voice / tone persona layer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Human-banker handoff workflow</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Explainability + audit framework</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Long-term consent management</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02  —  Living Financial Twin</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can't see consequences of financial decisions until months later. Big choices — quit a job, buy a home, take a sabbatical — are made on instinct, not insight.</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 real-time digital twin of the customer's full financial life. Runs 'what-if' simulations across cash flow, net worth, retirement age and family stability — and stays continuously synced with actual decisions.</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Maya asks: 'What if I quit my job for 6 months and travel?' Twin shows: net worth −₹3.4L, retirement delayed 14 months, emergency fund safe, but kid's college SIP gap appears in year 4. One-click recommendation to bridge.</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Highest stickiness lever in the deck — the twin becomes irreplaceable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Drives advisory revenue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Justifies premium subscription</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Creates a defensible data moat</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Real-time twin simulation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Full financial graph aggregation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Counterfactual modeling</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Monte Carlo runtime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Visualization layer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Consent-based external data import</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03  —  AutoEmergency Mode</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Job loss, medical events and income shocks hit customers at their most vulnerable. The bank's normal posture — billing, EMIs, upsell — keeps running, deepening the crisis.</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Detects a job loss, medical event or major income shock from transaction and external signals → automatically activates a 6-month survival mode: pauses discretionary spending, restructures EMIs, surfaces hardship credit, dispatches a human banker.</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Severance lump-sum hits + salary deposit stops. Within hours: subscriptions paused, EMI reduced to interest-only for 90 days, emergency line offered, family notified (with consent), insurance claims pre-filled.</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Reduces involuntary churn at the worst possible moment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Lowers default rates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Builds extreme loyalty — customers remember who showed up</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Strong regulator and PR narrative</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18–30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Multi-signal life-event detector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EMI / auto-debit restructuring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Hardship credit pre-approval model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Human-banker dispatch workflow</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Insurance claim co-pilot</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Regulator-aligned hardship policy</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04  —  Time-Travel Banking</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ignore advice and never see the cost of doing so. Trust in autonomous AI grows slowly because consequences of inaction are invisible.</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Counterfactual replay. 'Show me where I'd be if I had followed your advice 12 months ago.' Quantifies missed opportunities and avoided losses across savings, debt, investing and insurance.</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12 months ago Aria suggested moving ₹2L from current to liquid fund. Customer ignored. Time-Travel shows: ₹13,200 of foregone interest. Followed-advice counterfactual: net worth would be 3.4% higher today.</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Builds long-term trust to delegate more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Powerful retention story</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Converts skeptics into autonomous-mode users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Increases willingness to enable AutoInvest, AutoDebt, AutoSweep</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18–30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Counterfactual simulation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Historical advice log</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Market replay database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Visualization timeline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Net-worth attribution model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retrospective analytics</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05  —  AI Agent Marketplace</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want help with taxes, bills, insurance, travel and investments — but going to specialists is expensive and fragmented. The bank could orchestrate this but doesn't.</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 vetted marketplace of specialized AI agents (Tax Hawk, Bill Hunter, Investment Sage, Insurance Auditor, Travel Maximizer, Real Estate Agent, etc.) that customers can 'hire' for specific outcomes. Bank owns identity, KYC and data layer; takes revenue share.</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Customer hires 'Tax Hawk' for ₹299/month. The agent files taxes year-round, finds ₹38K in additional deductions, claims them, files returns. Bank takes 20% of fee + visibility into tax data for cross-sell.</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New high-margin revenue line (~10–25% take rate)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Positions the bank as a platform, not a product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Defends against agent-first competitors (OpenAI, Apple Intelligence)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Deepens customer data moat across categories</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Third-party agent SDK</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KYC + identity layer for agents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Consent &amp; data-access manager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Revenue-share billing engine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Outcome measurement framework</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Agent-quality review system</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06  —  Whisper Banking</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The biggest financial decisions happen offline — at a counter, in a showroom, in a restaurant — and the bank is nowhere in the loop until after the swipe.</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Subtle bone-conduction earbud / AirPod whispers in-context as the customer is about to make a meaningful decision — contextual, never intrusive.</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Standing at a counter about to buy a ₹38K phone, a subtle whisper: 'This is 23% above your usual electronics budget. You're saving for a wedding. Continue?'</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Ambient brand presence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Behavioral interventions at the moment of decision — the highest-leverage point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Unique product moment with no peer equivalent</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Drives buyer-remorse refunds down materially</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Bluetooth audio integration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Location + merchant context layer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On-device intent detection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Whisper-tone TTS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Opt-in moments-of-decision triggers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Battery and privacy safeguards</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07  —  Bring a Friend — Aria Anywhere</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lives don't live inside the bank app. They live in WhatsApp, Slack, Gmail, calendars. The bank is a separate world they must visit, not an ambient presence in their day.</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 can invite Aria into other apps via OAuth — WhatsApp, Slack, calendar — so the AI RM works alongside the customer in their existing tools, with end-to-end encryption.</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Customer in a WhatsApp group chat about a wedding gift: '@Aria what can I afford for Riya's wedding?' Aria replies with a number, and a one-tap path to send the gift.</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Bank becomes ambient across the customer's life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Defends against being replaced by horizontal AI assistants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Lifts daily engagement without forcing app opens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New distribution layer for advice and products</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18–30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OAuth cross-app identity</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Multi-platform Aria endpoints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End-to-end encrypted channel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Regulator-cleared advice scope</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Portable persona memory</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Usage analytics + abuse controls</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08  —  Merchant AI Agents</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regular small-merchant counterparts — maid, driver, tutor, electrician — operate on cash and informal invoicing. Trust is fuzzy, payments are messy, and the bank sees none of it.</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Small merchants used by retail customers receive a free AI agent that handles invoicing, taxes and working capital — extending the bank's footprint into the retail customer's vendor graph.</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Customer's regular maid / driver / tutor gets a free Merchant Agent that invoices the customer via the bank, files quarterly taxes, and offers working-capital loans when needed.</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Expands the bank into the adjacent micro-merchant population</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SaaS revenue from merchant subscriptions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Defensive against UPI-only fintechs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Deeper data on the customer's true expense graph</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Lightweight merchant onboarding</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Invoicing + tax automation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Working-capital underwriting model</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UPI / payment-rail integration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Vendor-graph linking</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SaaS billing engine</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274320" y="228600"/>
            <a:ext cx="11612880" cy="960120"/>
          </a:xfrm>
          <a:prstGeom prst="rect">
            <a:avLst/>
          </a:prstGeom>
          <a:solidFill>
            <a:srgbClr val="FFFFFF"/>
          </a:solidFill>
          <a:ln w="31750">
            <a:solidFill>
              <a:srgbClr val="C99A2E"/>
            </a:solidFill>
            <a:prstDash val="solid"/>
          </a:ln>
        </p:spPr>
      </p:sp>
      <p:sp>
        <p:nvSpPr>
          <p:cNvPr id="3" name="Text 1"/>
          <p:cNvSpPr/>
          <p:nvPr/>
        </p:nvSpPr>
        <p:spPr>
          <a:xfrm>
            <a:off x="502920" y="228600"/>
            <a:ext cx="11155680" cy="960120"/>
          </a:xfrm>
          <a:prstGeom prst="rect">
            <a:avLst/>
          </a:prstGeom>
          <a:noFill/>
          <a:ln/>
        </p:spPr>
        <p:txBody>
          <a:bodyPr wrap="square" lIns="0" tIns="0" rIns="0" bIns="0" rtlCol="0" anchor="ctr"/>
          <a:lstStyle/>
          <a:p>
            <a:pPr indent="0" marL="0">
              <a:buNone/>
            </a:pPr>
            <a:r>
              <a:rPr lang="en-US" sz="2400" b="1" dirty="0">
                <a:solidFill>
                  <a:srgbClr val="C99A2E"/>
                </a:solidFill>
                <a:latin typeface="Georgia" pitchFamily="34" charset="0"/>
                <a:ea typeface="Georgia" pitchFamily="34" charset="-122"/>
                <a:cs typeface="Georgia" pitchFamily="34" charset="-120"/>
              </a:rPr>
              <a:t>LONG-TERM USE CASE 09  —  The Financial Conscience</a:t>
            </a:r>
            <a:endParaRPr lang="en-US" sz="2400" dirty="0"/>
          </a:p>
        </p:txBody>
      </p:sp>
      <p:pic>
        <p:nvPicPr>
          <p:cNvPr id="4" name="Image 0" descr="preencoded.png">    </p:cNvPr>
          <p:cNvPicPr>
            <a:picLocks noChangeAspect="1"/>
          </p:cNvPicPr>
          <p:nvPr/>
        </p:nvPicPr>
        <p:blipFill>
          <a:blip r:embed="rId1"/>
          <a:stretch>
            <a:fillRect/>
          </a:stretch>
        </p:blipFill>
        <p:spPr>
          <a:xfrm>
            <a:off x="457200" y="1600200"/>
            <a:ext cx="384048" cy="384048"/>
          </a:xfrm>
          <a:prstGeom prst="rect">
            <a:avLst/>
          </a:prstGeom>
        </p:spPr>
      </p:pic>
      <p:sp>
        <p:nvSpPr>
          <p:cNvPr id="5" name="Text 2"/>
          <p:cNvSpPr/>
          <p:nvPr/>
        </p:nvSpPr>
        <p:spPr>
          <a:xfrm>
            <a:off x="960120" y="1627632"/>
            <a:ext cx="5029200" cy="274320"/>
          </a:xfrm>
          <a:prstGeom prst="rect">
            <a:avLst/>
          </a:prstGeom>
          <a:noFill/>
          <a:ln/>
        </p:spPr>
        <p:txBody>
          <a:bodyPr wrap="square" lIns="0" tIns="0" rIns="0" bIns="0" rtlCol="0" anchor="ctr"/>
          <a:lstStyle/>
          <a:p>
            <a:pPr indent="0" marL="0">
              <a:buNone/>
            </a:pPr>
            <a:r>
              <a:rPr lang="en-US" sz="1200" b="1" spc="300" kern="0" dirty="0">
                <a:solidFill>
                  <a:srgbClr val="6B6B6B"/>
                </a:solidFill>
                <a:latin typeface="Calibri" pitchFamily="34" charset="0"/>
                <a:ea typeface="Calibri" pitchFamily="34" charset="-122"/>
                <a:cs typeface="Calibri" pitchFamily="34" charset="-120"/>
              </a:rPr>
              <a:t>CURRENT PAIN POINT</a:t>
            </a:r>
            <a:endParaRPr lang="en-US" sz="1200" dirty="0"/>
          </a:p>
        </p:txBody>
      </p:sp>
      <p:sp>
        <p:nvSpPr>
          <p:cNvPr id="6" name="Text 3"/>
          <p:cNvSpPr/>
          <p:nvPr/>
        </p:nvSpPr>
        <p:spPr>
          <a:xfrm>
            <a:off x="457200" y="205740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Customers hold values — sustainability, ethical sourcing, cutting fast fashion — but their spending often contradicts those values without them noticing. Nobody is asking the polite question.</a:t>
            </a:r>
            <a:endParaRPr lang="en-US" sz="1300" dirty="0"/>
          </a:p>
        </p:txBody>
      </p:sp>
      <p:sp>
        <p:nvSpPr>
          <p:cNvPr id="7" name="Text 4"/>
          <p:cNvSpPr/>
          <p:nvPr/>
        </p:nvSpPr>
        <p:spPr>
          <a:xfrm>
            <a:off x="457200" y="3383280"/>
            <a:ext cx="5486400" cy="274320"/>
          </a:xfrm>
          <a:prstGeom prst="rect">
            <a:avLst/>
          </a:prstGeom>
          <a:noFill/>
          <a:ln/>
        </p:spPr>
        <p:txBody>
          <a:bodyPr wrap="square" lIns="0" tIns="0" rIns="0" bIns="0" rtlCol="0" anchor="ctr"/>
          <a:lstStyle/>
          <a:p>
            <a:pPr indent="0" marL="0">
              <a:buNone/>
            </a:pPr>
            <a:r>
              <a:rPr lang="en-US" sz="1200" b="1" spc="300" kern="0" dirty="0">
                <a:solidFill>
                  <a:srgbClr val="C99A2E"/>
                </a:solidFill>
                <a:latin typeface="Calibri" pitchFamily="34" charset="0"/>
                <a:ea typeface="Calibri" pitchFamily="34" charset="-122"/>
                <a:cs typeface="Calibri" pitchFamily="34" charset="-120"/>
              </a:rPr>
              <a:t>AI-DRIVEN SOLUTION</a:t>
            </a:r>
            <a:endParaRPr lang="en-US" sz="1200" dirty="0"/>
          </a:p>
        </p:txBody>
      </p:sp>
      <p:sp>
        <p:nvSpPr>
          <p:cNvPr id="8" name="Text 5"/>
          <p:cNvSpPr/>
          <p:nvPr/>
        </p:nvSpPr>
        <p:spPr>
          <a:xfrm>
            <a:off x="457200" y="3703320"/>
            <a:ext cx="5486400" cy="1280160"/>
          </a:xfrm>
          <a:prstGeom prst="rect">
            <a:avLst/>
          </a:prstGeom>
          <a:noFill/>
          <a:ln/>
        </p:spPr>
        <p:txBody>
          <a:bodyPr wrap="square" lIns="0" tIns="0" rIns="0" bIns="0" rtlCol="0" anchor="ctr"/>
          <a:lstStyle/>
          <a:p>
            <a:pPr indent="0" marL="0">
              <a:spcAft>
                <a:spcPts val="400"/>
              </a:spcAft>
              <a:buNone/>
            </a:pPr>
            <a:r>
              <a:rPr lang="en-US" sz="1300" dirty="0">
                <a:solidFill>
                  <a:srgbClr val="3D3D3D"/>
                </a:solidFill>
                <a:latin typeface="Calibri" pitchFamily="34" charset="0"/>
                <a:ea typeface="Calibri" pitchFamily="34" charset="-122"/>
                <a:cs typeface="Calibri" pitchFamily="34" charset="-120"/>
              </a:rPr>
              <a:t>An opt-in AI that knows the customer's stated values and gently flags transactions that contradict them — without preaching. The customer always decides.</a:t>
            </a:r>
            <a:endParaRPr lang="en-US" sz="1300" dirty="0"/>
          </a:p>
        </p:txBody>
      </p:sp>
      <p:sp>
        <p:nvSpPr>
          <p:cNvPr id="9" name="Shape 6"/>
          <p:cNvSpPr/>
          <p:nvPr/>
        </p:nvSpPr>
        <p:spPr>
          <a:xfrm>
            <a:off x="457200" y="5074920"/>
            <a:ext cx="5486400" cy="1234440"/>
          </a:xfrm>
          <a:prstGeom prst="rect">
            <a:avLst/>
          </a:prstGeom>
          <a:solidFill>
            <a:srgbClr val="F7F4EE"/>
          </a:solidFill>
          <a:ln/>
        </p:spPr>
      </p:sp>
      <p:sp>
        <p:nvSpPr>
          <p:cNvPr id="10" name="Shape 7"/>
          <p:cNvSpPr/>
          <p:nvPr/>
        </p:nvSpPr>
        <p:spPr>
          <a:xfrm>
            <a:off x="457200" y="5074920"/>
            <a:ext cx="73152" cy="1234440"/>
          </a:xfrm>
          <a:prstGeom prst="rect">
            <a:avLst/>
          </a:prstGeom>
          <a:solidFill>
            <a:srgbClr val="C99A2E"/>
          </a:solidFill>
          <a:ln/>
        </p:spPr>
      </p:sp>
      <p:sp>
        <p:nvSpPr>
          <p:cNvPr id="11" name="Text 8"/>
          <p:cNvSpPr/>
          <p:nvPr/>
        </p:nvSpPr>
        <p:spPr>
          <a:xfrm>
            <a:off x="594360" y="5120640"/>
            <a:ext cx="5303520" cy="228600"/>
          </a:xfrm>
          <a:prstGeom prst="rect">
            <a:avLst/>
          </a:prstGeom>
          <a:noFill/>
          <a:ln/>
        </p:spPr>
        <p:txBody>
          <a:bodyPr wrap="square" lIns="0" tIns="0" rIns="0" bIns="0" rtlCol="0" anchor="ctr"/>
          <a:lstStyle/>
          <a:p>
            <a:pPr indent="0" marL="0">
              <a:buNone/>
            </a:pPr>
            <a:r>
              <a:rPr lang="en-US" sz="1100" b="1" spc="300" kern="0" dirty="0">
                <a:solidFill>
                  <a:srgbClr val="C99A2E"/>
                </a:solidFill>
                <a:latin typeface="Calibri" pitchFamily="34" charset="0"/>
                <a:ea typeface="Calibri" pitchFamily="34" charset="-122"/>
                <a:cs typeface="Calibri" pitchFamily="34" charset="-120"/>
              </a:rPr>
              <a:t>EXAMPLE</a:t>
            </a:r>
            <a:endParaRPr lang="en-US" sz="1100" dirty="0"/>
          </a:p>
        </p:txBody>
      </p:sp>
      <p:sp>
        <p:nvSpPr>
          <p:cNvPr id="12" name="Text 9"/>
          <p:cNvSpPr/>
          <p:nvPr/>
        </p:nvSpPr>
        <p:spPr>
          <a:xfrm>
            <a:off x="594360" y="5349240"/>
            <a:ext cx="5303520" cy="914400"/>
          </a:xfrm>
          <a:prstGeom prst="rect">
            <a:avLst/>
          </a:prstGeom>
          <a:noFill/>
          <a:ln/>
        </p:spPr>
        <p:txBody>
          <a:bodyPr wrap="square" lIns="0" tIns="0" rIns="0" bIns="0" rtlCol="0" anchor="ctr"/>
          <a:lstStyle/>
          <a:p>
            <a:pPr indent="0" marL="0">
              <a:spcAft>
                <a:spcPts val="200"/>
              </a:spcAft>
              <a:buNone/>
            </a:pPr>
            <a:r>
              <a:rPr lang="en-US" sz="1150" i="1" dirty="0">
                <a:solidFill>
                  <a:srgbClr val="3D3D3D"/>
                </a:solidFill>
                <a:latin typeface="Calibri" pitchFamily="34" charset="0"/>
                <a:ea typeface="Calibri" pitchFamily="34" charset="-122"/>
                <a:cs typeface="Calibri" pitchFamily="34" charset="-120"/>
              </a:rPr>
              <a:t>Customer stated 'reduce fast-fashion spending.' At checkout for a ₹6K Shein order, app whispers: 'You said you wanted to cut fast fashion by 50% this year. This is your 4th order. Continue?'</a:t>
            </a:r>
            <a:endParaRPr lang="en-US" sz="1150" dirty="0"/>
          </a:p>
        </p:txBody>
      </p:sp>
      <p:sp>
        <p:nvSpPr>
          <p:cNvPr id="13" name="Shape 10"/>
          <p:cNvSpPr/>
          <p:nvPr/>
        </p:nvSpPr>
        <p:spPr>
          <a:xfrm>
            <a:off x="6217920" y="1600200"/>
            <a:ext cx="5486400" cy="1417320"/>
          </a:xfrm>
          <a:prstGeom prst="rect">
            <a:avLst/>
          </a:prstGeom>
          <a:solidFill>
            <a:srgbClr val="F7F4EE"/>
          </a:solidFill>
          <a:ln/>
        </p:spPr>
      </p:sp>
      <p:sp>
        <p:nvSpPr>
          <p:cNvPr id="14" name="Shape 11"/>
          <p:cNvSpPr/>
          <p:nvPr/>
        </p:nvSpPr>
        <p:spPr>
          <a:xfrm>
            <a:off x="6217920" y="1600200"/>
            <a:ext cx="91440" cy="1417320"/>
          </a:xfrm>
          <a:prstGeom prst="rect">
            <a:avLst/>
          </a:prstGeom>
          <a:solidFill>
            <a:srgbClr val="C99A2E"/>
          </a:solidFill>
          <a:ln/>
        </p:spPr>
      </p:sp>
      <p:sp>
        <p:nvSpPr>
          <p:cNvPr id="15" name="Text 12"/>
          <p:cNvSpPr/>
          <p:nvPr/>
        </p:nvSpPr>
        <p:spPr>
          <a:xfrm>
            <a:off x="6355080" y="1664208"/>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BUSINESS IMPACT</a:t>
            </a:r>
            <a:endParaRPr lang="en-US" sz="1200" dirty="0"/>
          </a:p>
        </p:txBody>
      </p:sp>
      <p:sp>
        <p:nvSpPr>
          <p:cNvPr id="16" name="Text 13"/>
          <p:cNvSpPr/>
          <p:nvPr/>
        </p:nvSpPr>
        <p:spPr>
          <a:xfrm>
            <a:off x="6355080" y="1965960"/>
            <a:ext cx="5212080" cy="1005840"/>
          </a:xfrm>
          <a:prstGeom prst="rect">
            <a:avLst/>
          </a:prstGeom>
          <a:noFill/>
          <a:ln/>
        </p:spPr>
        <p:txBody>
          <a:bodyPr wrap="square" lIns="0" tIns="0" rIns="0" bIns="0" rtlCol="0" anchor="ctr"/>
          <a:lstStyle/>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Radical brand differentiation</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Deepest emotional moat — a bank aligned with the customer's values</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Supports ESG narrative</a:t>
            </a:r>
            <a:endParaRPr lang="en-US" sz="1300" dirty="0"/>
          </a:p>
          <a:p>
            <a:pPr indent="0" marL="0">
              <a:spcAft>
                <a:spcPts val="300"/>
              </a:spcAft>
              <a:buNone/>
            </a:pPr>
            <a:r>
              <a:rPr lang="en-US" sz="1300" dirty="0">
                <a:solidFill>
                  <a:srgbClr val="3D3D3D"/>
                </a:solidFill>
                <a:latin typeface="Calibri" pitchFamily="34" charset="0"/>
                <a:ea typeface="Calibri" pitchFamily="34" charset="-122"/>
                <a:cs typeface="Calibri" pitchFamily="34" charset="-120"/>
              </a:rPr>
              <a:t>Generates strong word-of-mouth among values-driven cohorts</a:t>
            </a:r>
            <a:endParaRPr lang="en-US" sz="1300" dirty="0"/>
          </a:p>
        </p:txBody>
      </p:sp>
      <p:sp>
        <p:nvSpPr>
          <p:cNvPr id="17" name="Shape 14"/>
          <p:cNvSpPr/>
          <p:nvPr/>
        </p:nvSpPr>
        <p:spPr>
          <a:xfrm>
            <a:off x="6217920" y="3154680"/>
            <a:ext cx="2651760" cy="822960"/>
          </a:xfrm>
          <a:prstGeom prst="rect">
            <a:avLst/>
          </a:prstGeom>
          <a:solidFill>
            <a:srgbClr val="F7F4EE"/>
          </a:solidFill>
          <a:ln/>
        </p:spPr>
      </p:sp>
      <p:sp>
        <p:nvSpPr>
          <p:cNvPr id="18" name="Shape 15"/>
          <p:cNvSpPr/>
          <p:nvPr/>
        </p:nvSpPr>
        <p:spPr>
          <a:xfrm>
            <a:off x="6217920" y="3154680"/>
            <a:ext cx="91440" cy="822960"/>
          </a:xfrm>
          <a:prstGeom prst="rect">
            <a:avLst/>
          </a:prstGeom>
          <a:solidFill>
            <a:srgbClr val="C99A2E"/>
          </a:solidFill>
          <a:ln/>
        </p:spPr>
      </p:sp>
      <p:sp>
        <p:nvSpPr>
          <p:cNvPr id="19" name="Text 16"/>
          <p:cNvSpPr/>
          <p:nvPr/>
        </p:nvSpPr>
        <p:spPr>
          <a:xfrm>
            <a:off x="635508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PAYBACK</a:t>
            </a:r>
            <a:endParaRPr lang="en-US" sz="900" dirty="0"/>
          </a:p>
        </p:txBody>
      </p:sp>
      <p:sp>
        <p:nvSpPr>
          <p:cNvPr id="20" name="Text 17"/>
          <p:cNvSpPr/>
          <p:nvPr/>
        </p:nvSpPr>
        <p:spPr>
          <a:xfrm>
            <a:off x="635508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24–36 months</a:t>
            </a:r>
            <a:endParaRPr lang="en-US" sz="1400" dirty="0"/>
          </a:p>
        </p:txBody>
      </p:sp>
      <p:sp>
        <p:nvSpPr>
          <p:cNvPr id="21" name="Shape 18"/>
          <p:cNvSpPr/>
          <p:nvPr/>
        </p:nvSpPr>
        <p:spPr>
          <a:xfrm>
            <a:off x="9052560" y="3154680"/>
            <a:ext cx="2651760" cy="822960"/>
          </a:xfrm>
          <a:prstGeom prst="rect">
            <a:avLst/>
          </a:prstGeom>
          <a:solidFill>
            <a:srgbClr val="F7F4EE"/>
          </a:solidFill>
          <a:ln/>
        </p:spPr>
      </p:sp>
      <p:sp>
        <p:nvSpPr>
          <p:cNvPr id="22" name="Shape 19"/>
          <p:cNvSpPr/>
          <p:nvPr/>
        </p:nvSpPr>
        <p:spPr>
          <a:xfrm>
            <a:off x="9052560" y="3154680"/>
            <a:ext cx="91440" cy="822960"/>
          </a:xfrm>
          <a:prstGeom prst="rect">
            <a:avLst/>
          </a:prstGeom>
          <a:solidFill>
            <a:srgbClr val="C99A2E"/>
          </a:solidFill>
          <a:ln/>
        </p:spPr>
      </p:sp>
      <p:sp>
        <p:nvSpPr>
          <p:cNvPr id="23" name="Text 20"/>
          <p:cNvSpPr/>
          <p:nvPr/>
        </p:nvSpPr>
        <p:spPr>
          <a:xfrm>
            <a:off x="9189720" y="3218688"/>
            <a:ext cx="2468880" cy="201168"/>
          </a:xfrm>
          <a:prstGeom prst="rect">
            <a:avLst/>
          </a:prstGeom>
          <a:noFill/>
          <a:ln/>
        </p:spPr>
        <p:txBody>
          <a:bodyPr wrap="square" lIns="0" tIns="0" rIns="0" bIns="0" rtlCol="0" anchor="ctr"/>
          <a:lstStyle/>
          <a:p>
            <a:pPr indent="0" marL="0">
              <a:buNone/>
            </a:pPr>
            <a:r>
              <a:rPr lang="en-US" sz="900" b="1" spc="300" kern="0" dirty="0">
                <a:solidFill>
                  <a:srgbClr val="6B6B6B"/>
                </a:solidFill>
                <a:latin typeface="Calibri" pitchFamily="34" charset="0"/>
                <a:ea typeface="Calibri" pitchFamily="34" charset="-122"/>
                <a:cs typeface="Calibri" pitchFamily="34" charset="-120"/>
              </a:rPr>
              <a:t>COMPLEXITY</a:t>
            </a:r>
            <a:endParaRPr lang="en-US" sz="900" dirty="0"/>
          </a:p>
        </p:txBody>
      </p:sp>
      <p:sp>
        <p:nvSpPr>
          <p:cNvPr id="24" name="Text 21"/>
          <p:cNvSpPr/>
          <p:nvPr/>
        </p:nvSpPr>
        <p:spPr>
          <a:xfrm>
            <a:off x="9189720" y="3429000"/>
            <a:ext cx="2468880" cy="502920"/>
          </a:xfrm>
          <a:prstGeom prst="rect">
            <a:avLst/>
          </a:prstGeom>
          <a:noFill/>
          <a:ln/>
        </p:spPr>
        <p:txBody>
          <a:bodyPr wrap="square" lIns="0" tIns="0" rIns="0" bIns="0" rtlCol="0" anchor="ctr"/>
          <a:lstStyle/>
          <a:p>
            <a:pPr indent="0" marL="0">
              <a:buNone/>
            </a:pPr>
            <a:r>
              <a:rPr lang="en-US" sz="1400" b="1" dirty="0">
                <a:solidFill>
                  <a:srgbClr val="1A1A1A"/>
                </a:solidFill>
                <a:latin typeface="Georgia" pitchFamily="34" charset="0"/>
                <a:ea typeface="Georgia" pitchFamily="34" charset="-122"/>
                <a:cs typeface="Georgia" pitchFamily="34" charset="-120"/>
              </a:rPr>
              <a:t>Very High</a:t>
            </a:r>
            <a:endParaRPr lang="en-US" sz="1400" dirty="0"/>
          </a:p>
        </p:txBody>
      </p:sp>
      <p:sp>
        <p:nvSpPr>
          <p:cNvPr id="25" name="Shape 22"/>
          <p:cNvSpPr/>
          <p:nvPr/>
        </p:nvSpPr>
        <p:spPr>
          <a:xfrm>
            <a:off x="6217920" y="4114800"/>
            <a:ext cx="5486400" cy="2194560"/>
          </a:xfrm>
          <a:prstGeom prst="rect">
            <a:avLst/>
          </a:prstGeom>
          <a:solidFill>
            <a:srgbClr val="F7F4EE"/>
          </a:solidFill>
          <a:ln/>
        </p:spPr>
      </p:sp>
      <p:sp>
        <p:nvSpPr>
          <p:cNvPr id="26" name="Shape 23"/>
          <p:cNvSpPr/>
          <p:nvPr/>
        </p:nvSpPr>
        <p:spPr>
          <a:xfrm>
            <a:off x="6217920" y="4114800"/>
            <a:ext cx="91440" cy="2194560"/>
          </a:xfrm>
          <a:prstGeom prst="rect">
            <a:avLst/>
          </a:prstGeom>
          <a:solidFill>
            <a:srgbClr val="C99A2E"/>
          </a:solidFill>
          <a:ln/>
        </p:spPr>
      </p:sp>
      <p:sp>
        <p:nvSpPr>
          <p:cNvPr id="27" name="Text 24"/>
          <p:cNvSpPr/>
          <p:nvPr/>
        </p:nvSpPr>
        <p:spPr>
          <a:xfrm>
            <a:off x="6355080" y="4206240"/>
            <a:ext cx="5212080" cy="274320"/>
          </a:xfrm>
          <a:prstGeom prst="rect">
            <a:avLst/>
          </a:prstGeom>
          <a:noFill/>
          <a:ln/>
        </p:spPr>
        <p:txBody>
          <a:bodyPr wrap="square" lIns="0" tIns="0" rIns="0" bIns="0" rtlCol="0" anchor="ctr"/>
          <a:lstStyle/>
          <a:p>
            <a:pPr indent="0" marL="0">
              <a:buNone/>
            </a:pPr>
            <a:r>
              <a:rPr lang="en-US" sz="1200" b="1" spc="300" kern="0" dirty="0">
                <a:solidFill>
                  <a:srgbClr val="1A1A1A"/>
                </a:solidFill>
                <a:latin typeface="Calibri" pitchFamily="34" charset="0"/>
                <a:ea typeface="Calibri" pitchFamily="34" charset="-122"/>
                <a:cs typeface="Calibri" pitchFamily="34" charset="-120"/>
              </a:rPr>
              <a:t>TECH STACK</a:t>
            </a:r>
            <a:endParaRPr lang="en-US" sz="1200" dirty="0"/>
          </a:p>
        </p:txBody>
      </p:sp>
      <p:sp>
        <p:nvSpPr>
          <p:cNvPr id="28" name="Text 25"/>
          <p:cNvSpPr/>
          <p:nvPr/>
        </p:nvSpPr>
        <p:spPr>
          <a:xfrm>
            <a:off x="6355080" y="4480560"/>
            <a:ext cx="5212080" cy="1783080"/>
          </a:xfrm>
          <a:prstGeom prst="rect">
            <a:avLst/>
          </a:prstGeom>
          <a:noFill/>
          <a:ln/>
        </p:spPr>
        <p:txBody>
          <a:bodyPr wrap="square" lIns="0" tIns="0" rIns="0" bIns="0" rtlCol="0" anchor="ctr"/>
          <a:lstStyle/>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Customer values capture UX</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Merchant + product values classifier</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Real-time transaction inspection</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Gentle-nudge framing LLM</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Granular opt-in / opt-out controls</a:t>
            </a:r>
            <a:endParaRPr lang="en-US" sz="1250" dirty="0"/>
          </a:p>
          <a:p>
            <a:pPr marL="342900" indent="-342900">
              <a:spcAft>
                <a:spcPts val="300"/>
              </a:spcAft>
              <a:buSzPct val="100000"/>
              <a:buChar char="■"/>
            </a:pPr>
            <a:r>
              <a:rPr lang="en-US" sz="1250" dirty="0">
                <a:solidFill>
                  <a:srgbClr val="3D3D3D"/>
                </a:solidFill>
                <a:latin typeface="Calibri" pitchFamily="34" charset="0"/>
                <a:ea typeface="Calibri" pitchFamily="34" charset="-122"/>
                <a:cs typeface="Calibri" pitchFamily="34" charset="-120"/>
              </a:rPr>
              <a:t>Ethical AI review board</a:t>
            </a:r>
            <a:endParaRPr lang="en-US" sz="1250" dirty="0"/>
          </a:p>
        </p:txBody>
      </p:sp>
      <p:sp>
        <p:nvSpPr>
          <p:cNvPr id="29" name="Text 26"/>
          <p:cNvSpPr/>
          <p:nvPr/>
        </p:nvSpPr>
        <p:spPr>
          <a:xfrm>
            <a:off x="457200" y="6446520"/>
            <a:ext cx="8229600" cy="27432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Next-Gen Retail Digital Bank  |  AI Use Cases  |  2026</a:t>
            </a:r>
            <a:endParaRPr lang="en-US" sz="900" dirty="0"/>
          </a:p>
        </p:txBody>
      </p:sp>
      <p:sp>
        <p:nvSpPr>
          <p:cNvPr id="30" name="Text 27"/>
          <p:cNvSpPr/>
          <p:nvPr/>
        </p:nvSpPr>
        <p:spPr>
          <a:xfrm>
            <a:off x="11247120" y="6446520"/>
            <a:ext cx="640080" cy="274320"/>
          </a:xfrm>
          <a:prstGeom prst="rect">
            <a:avLst/>
          </a:prstGeom>
          <a:noFill/>
          <a:ln/>
        </p:spPr>
        <p:txBody>
          <a:bodyPr wrap="square" lIns="0" tIns="0" rIns="0" bIns="0"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Use Cases — Next-Generation Retail Digital Bank</dc:title>
  <dc:subject>PptxGenJS Presentation</dc:subject>
  <dc:creator>Next-Gen Retail Digital Bank</dc:creator>
  <cp:lastModifiedBy>Next-Gen Retail Digital Bank</cp:lastModifiedBy>
  <cp:revision>1</cp:revision>
  <dcterms:created xsi:type="dcterms:W3CDTF">2026-05-27T05:50:36Z</dcterms:created>
  <dcterms:modified xsi:type="dcterms:W3CDTF">2026-05-27T05:50:36Z</dcterms:modified>
</cp:coreProperties>
</file>