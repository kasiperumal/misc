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3" r:id="rId8"/>
    <p:sldId id="264" r:id="rId9"/>
    <p:sldId id="265" r:id="rId10"/>
    <p:sldId id="266" r:id="rId11"/>
    <p:sldId id="267" r:id="rId12"/>
    <p:sldId id="269" r:id="rId13"/>
    <p:sldId id="270" r:id="rId14"/>
    <p:sldId id="271" r:id="rId15"/>
    <p:sldId id="272" r:id="rId16"/>
    <p:sldId id="273" r:id="rId17"/>
    <p:sldId id="274" r:id="rId18"/>
    <p:sldId id="275" r:id="rId19"/>
    <p:sldId id="276" r:id="rId20"/>
    <p:sldId id="277" r:id="rId21"/>
    <p:sldId id="278"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42"/>
    <p:restoredTop sz="64757"/>
  </p:normalViewPr>
  <p:slideViewPr>
    <p:cSldViewPr snapToGrid="0" snapToObjects="1">
      <p:cViewPr varScale="1">
        <p:scale>
          <a:sx n="103" d="100"/>
          <a:sy n="103" d="100"/>
        </p:scale>
        <p:origin x="2208" y="176"/>
      </p:cViewPr>
      <p:guideLst/>
    </p:cSldViewPr>
  </p:slideViewPr>
  <p:notesTextViewPr>
    <p:cViewPr>
      <p:scale>
        <a:sx n="1" d="1"/>
        <a:sy n="1" d="1"/>
      </p:scale>
      <p:origin x="0" y="-47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3307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(75 seconds)
The single biggest UX improvement in Horizon 1. Replace top-level navigation with intent. Today every Wells customer in the mobile app or on wellsfargo.com navigates through tabs and menu trees. Tomorrow a single command bar handles intent in natural language.
Why it's achievable. The LLM and vector-search components are commodities. Our existing PII-tokenization layer is the hard part — we already have it from Fargo. What we add is intent classification, a capability/page graph, and deep-link routing.
Economics. 30–50% reduction in time-to-task; 5–8 pt mobile NPS; 15–20% deflection of routine support contacts. Each percentage point of deflection at our scale is worth ~$40–60M annually.
Anticipated Q: "What about accidental commands?" A: every transactional command shows the action and asks for confirmation. Human-in-the-loop on materiality.
----------
EXAMPLE — BEFORE / AFTER
Linda opens the Wells Fargo Mobile app and wants to know what an unfamiliar $42.67 charge was. Today: she taps Accounts → finds her checking → scrolls → taps the transaction → reads "AMZN MKTPLC US*L7M4K" and is no wiser. Frustrated, she calls us.
With smart search: she opens the app and types into the bar at the top: "what was that $42 Amazon charge yesterday?" The AI parses the intent, pulls the transaction, identifies it was an Amazon Marketplace order shipped to her address Tuesday — "It looks like a wireless earbuds order from Amazon, shipped to your home Tuesday. Want to see the details?" 90 seconds saved. No call. NPS up.
Multiplied across 33M+ mobile active users, many times per month, this is what S1 delivers.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(60 seconds)
The personalization foundation. One mobile home screen for tens of millions of customers means leaving engagement on the table. AI-curated dashboards reconfigure daily based on what the customer actually needs.
Why we're positioned. Pega already runs 6B decisions/month for Wells across our customer base. Adding GenAI for content selection plus a real-time feature store is amplification, not greenfield.
Economics. Chase has shown 15–25% mobile DAU lift is achievable with similar personalization. At our scale, this is hundreds of millions in incremental engagement-driven revenue.
Customer control. Every customer can lock their dashboard to a preferred view; AI personalization is opt-out, not opt-in by default.
----------
EXAMPLE — TWO CUSTOMERS, SAME APP
Today, Carlos (28) and Patricia (62) open the Wells Fargo Mobile app and see exactly the same home screen — Accounts at the top, Move Money in the middle, Help at the bottom.
With adaptive dashboards: Carlos opens his app on payday and sees "Your paycheck just hit. Move $200 to Way2Save?" as the top tile. Patricia opens her app the same morning and sees "Your Social Security deposit lands tomorrow. Your Standard CD matures in 12 days — review options" at the top of hers.
Same app, same investment, two completely different experiences — each more useful than the generic version. That's the difference between a 2010 app and a 2026 app.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(60 seconds)
The financial wellness play. ~50M Americans hit an overdraft annually. Most don't see it coming. The bank that helps customers avoid the overdraft wins their primary-bank loyalty — and reduces churn we lose to Chime and Albert.
External benchmarks. BofA Life Plan and RBC NOMI are the most-developed bank-led versions. Cleo and Rocket Money set the customer expectation outside-in.
Wells alignment. We already reduced overdraft fees in 2022. This is the customer-experience side of that strategic direction.
Anticipated Q: "Doesn't this cannibalize overdraft fee revenue?" A: yes — but it builds long-term loyalty and protects deposits. The math is positive over 24+ months.
----------
EXAMPLE — DAVID AVOIDS AN OVERDRAFT
David, a Wells customer with Everyday Checking. His rent ($2,100) and car payment ($487) both hit on the 5th. He's paid on the 1st and 15th. Today he doesn't see the squeeze until his account is at $42 and his Spotify charge bounces — overdraft fee, frustration, a call to us.
With AI cash-flow insights: on the 28th of the prior month, David opens the Wells Fargo Mobile app and the home screen tells him "You're projected to be tight around the 5th — about $200 short of comfortable. Move $250 from Way2Save now, or skip your Friday DoorDash?"
David moves $250. No overdraft. No bounced subscription. No call. He becomes more loyal to Wells because we helped him — that's the long-game customer-experience play, and it's exactly what fintechs use to take primary-bank relationships from us.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(60 seconds)
Reclaiming PFM from Rocket Money. They have 5M subscribers and a multi-hundred-million-dollar revenue base built on customer pain that should be solved inside the Wells Fargo Mobile app.
The solution. AI detects recurring charges, displays subscriptions, predicts upcoming bills, flags duplicates, enables one-tap cancel. Make PFM useful inside Wells.
Why we win this race. We see transactions firsthand. Aggregators (Plaid, MX) have a 24-hour lag and miss data. Real-time bank-native PFM is better PFM.
Economics. $50–100M run-rate from subscription routing — when customers manage subs in Wells, we capture more of them on Wells cards (Active Cash, Autograph). Plus material churn defense.
----------
EXAMPLE — AISHA TAKES BACK CONTROL
Aisha opens her Wells Fargo Mobile app and taps the new Subscriptions tile inside Bill Pay. She sees: "You have 14 active subscriptions totaling $189/month. Three look like duplicates: Netflix Premium ($22) and Netflix Standard ($15) — same household? Disney+ ($14) charged twice last month — likely error. Hulu ($18) hasn't been used in 90 days — cancel?"
She cancels three subscriptions in 90 seconds, saves $54/month. She also realizes her Spotify is still billing to her ex's card — she moves it to her Wells Active Cash card. She cancels her gym auto-renewal.
Outcomes: Aisha saved $648/year. Wells captured one new subscription on Active Cash. Aisha now thinks of Wells as "the bank that saves me money," not the one that charges her fees.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(60 seconds)
The biggest revenue lever in Horizon 1. We already run Pega Customer Decision Hub at 6B decisions/month — world-class personalization spine. GenAI doesn't replace it; it amplifies it. GenAI generates content variants, A/B tests in-app, personalizes hero offers across mobile, web, email.
Economics. McKinsey: 2–7% revenue uplift; 1–2% profit margin uplift. Accenture's "relationship multiplier" worth up to 20% of primary-customer revenue.
Why it's fast. 6–9 month payback. No new platform — adding GenAI layers to an existing investment.
Anticipated Q: "Are we using GenAI for creative with appropriate guardrails?" A: yes — brand controls and compliance review on every variant before production.
----------
EXAMPLE — TWO CUSTOMERS, TWO OFFERS
Today: every Wells customer between 25 and 35 with an Active Cash credit card gets approximately the same "consider a personal loan" nudge in the app.
Tomorrow: Carlos, 28, just spent $4,200 at Lowe's this month, Active Cash balance trending up — the mobile app shows him a 0% balance transfer to Reflect with a tailored rate. His college friend Aisha, same demographic on paper, just got a 15% raise based on her direct-deposit pattern — completely different offer in her app: "It might be a good time to upgrade your checking from Everyday to Prime — and talk to a banker about Roth IRA options."
Same Pega Decision Hub running underneath. GenAI writes the actual offer copy, personalized to each customer's product mix and life signal. McKinsey says this drives 2–7% revenue uplift. At our scale, that's high hundreds of millions.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(60 seconds)
The trust-building use case. A bad dispute experience is a churn event. A great one is loyalty for life. Today most Wells dispute flows take 4–7 days. Customers give up and call (inflating cost) or give up entirely (churning).
The solution. AI-powered in-app dispute. Customer says "I don't recognize this charge." AI classifies (merchant error vs. fraud vs. authorized-but-disputed), pulls merchant context, decides on provisional credit, drafts, submits, communicates.
Regulator stance. Reg E is non-negotiable. CFPB is watching dispute handling closely. We bake compliance in from day one — that becomes a supervisory advantage.
Economics. 50–70% reduction in handling cost. +5–10 NPS. $80–150M run-rate.
----------
EXAMPLE — LINDA DISPUTES A GYM CHARGE
Linda sees a $89.99 charge from "WCT*FITNESS" on her Wells Active Cash card. She doesn't recognize it.
Today: she navigates to Help → Disputes → fills out 11 fields, attaches her statement, submits. Confirmation email. 4–7 days of silence. Eventually a generic resolution email.
Tomorrow: she taps the charge in the Wells Fargo Mobile app, says "I don't recognize this." AI cross-references: it's a gym she canceled in March, but the cancellation never processed at the merchant. AI says: "This looks like a fitness subscription you canceled in March. Wells will issue a provisional credit of $89.99 within 1 business day and dispute the charge with the merchant. We'll update you when resolved — usually 5–10 business days." Linda is informed, credited, supported. Resolution time: 90 seconds for her, 5–10 days for the merchant side. NPS 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(45 seconds)
The quietest high-impact use case. Bank notifications are either too few or too many. Both lose engagement.
The solution. AI decides the right notification at the right time using contextual-bandits RL. The model learns each customer's tolerance, preferences, prior-response patterns.
Why it's fast. 6–9 month payback. No new platform.
Economics. 25–40% lift in notification engagement. 10–15% mobile DAU lift. $50–100M run-rate.
Anticipated Q: "How do we avoid being creepy?" A: opt-in by category, transparent reasoning, customer always adjusts.
----------
EXAMPLE — AISHA'S NOTIFICATION DIET CHANGES
Today: Aisha gets 8 Wells push notifications a week. Most are "Your statement is ready" or "New offer available." She has tuned them out. Last month she muted Wells notifications entirely.
With AI-optimized notifications: she gets 2–3 per week, but they're high-relevance: "Your rent auto-pays tomorrow — your Everyday Checking covers it" (Tuesday), "Suspicious charge attempted on your Active Cash card — declined" (Friday), "Your CD matures in 5 days — review options" (Sunday).
She doesn't mute these. She actually opens them. Mobile DAU goes up. Engagement goes up. Cross-sell uptake on offers (because she trusts the notifications enough to look) goes up. The model learns what she values and gets quieter on what she doesn't.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(45 seconds)
Solves a specific pain in a high-volume feature. Mobile check deposit is one of our most-used and most-failed digital features. Failed deposits drive branch visits, defeating the digital investment. Fraud is concentrated here too.
The solution. On-device CV pre-validates image quality with real-time guidance. Server-side adds risk scoring on the check itself + customer behavior. Higher acceptance, lower fraud.
Economics. 30–40% reduction in failed deposits. 25% reduction in mobile-deposit fraud. +3–5 NPS on the feature.
External benchmarks. Chase and BofA mobile deposit have set the customer expectation; Mitek tooling is the vendor baseline. Wells extends with custom risk scoring.
----------
EXAMPLE — PATRICIA'S BIRTHDAY CHECK
Patricia, 62, wants to deposit her grandson's birthday check for $50 into Way2Save Savings. She opens the Wells Fargo Mobile app, taps "Deposit Check," takes a photo. The system rejects it — "image not clear." She tries again. Rejected. She gives up and drives to a branch on Saturday.
With AI-enhanced deposit: she opens "Deposit Check." Camera opens with real-time guidance — outline on screen showing where the check should sit, color overlay turning green when alignment is right, instruction text: "Tilt phone forward slightly," "Hold steady — capturing now." Check accepts on first try. Deposit confirmed in 30 seconds.
She tells her friends. Patricia uses the app more, drives to the branch less, and Wells reinforces digital-first behavior for the 60+ cohort.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(90 seconds)
The crown jewel of Horizon 2. The Wells Fargo Mobile app's primary interface becomes conversational and proactive, replacing the navigation-first design we've had since 2010. Multi-turn task execution: "transfer $200 to Bob, set up a recurring transfer on the 1st, and remind me if my Everyday balance drops below $500." Three things, one conversation.
Why we believe the pattern works. Capital One Chat Concierge has delivered up to 55% engagement lift at participating auto dealers. Fargo already crossed 1B cumulative interactions — the on-ramp is built.
Why this is hard. The technology isn't the constraint — we have multi-agent LangGraph in production, Gemini Enterprise. The constraint is governance. How do we let an agent execute multi-step actions on a customer's behalf with the right HITL checkpoints? That's the work of 2026–2027.
82% of consumers want AI in their primary bank's mobile app but want to approve each material action (Accenture). Human-in-the-loop, materiality-thresholded is the design point.
Anticipated Q: "How is this different from S1 smart search?" A: S1 retrofits today's app with intent-based navigation. L1 replaces the navigation paradigm entirely with conversational primacy. S1 is the on-ramp; L1 is the destination.
----------
EXAMPLE — MARIA'S CONDITIONAL ROOF PAYMENT (2028)
It's 2028. Maria opens the Wells Fargo Mobile app and says: "Pay the roof contractor from my Everyday Checking, but only after the city inspection clears."
The app confirms the conditional payment, sets up a trigger from the city inspector's portal, shows Maria exactly what will happen and when, asks her to approve. She says yes. Three days later, when the inspection clears, the payment fires automatically and the app confirms it to her.
She never tapped a menu. She never filled out a form. She just said one sentence. That's the destination — AI-native mobile banking, built on the Fargo foundation we already have.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(60 seconds)
Proactivity made tangible. Major life events drive most banking decisions — home, child, college, retirement. Today customers search and shop. Tomorrow we anticipate from transaction signals plus external data, then proactively configure product mix.
What we already have. LifeSync is the foundation (consumer launch Oct 2023, 1M MAU month-one). The leap is from a static planning tool to an event-driven, agentic execution engine inside the mobile experience.
Economics. 10–20% revenue uplift on covered cohorts. Deeper share-of-wallet. Higher NPS on cohorts touched by a major life event.
Regulatory. CFPB fair-lending + UDAAP review is essential. Build disparate-impact testing in from day one.
Anticipated Q: "Privacy?" A: signal aggregation is first-party data; external data only with explicit consent.
----------
EXAMPLE — AISHA AND HER PARTNER, EXPECTING (2027)
It's 2027. Wells' transaction signals notice that Aisha and her partner have started shopping for cribs at Target and Pottery Barn. Prenatal appointments are showing up in their HSA flows. Their grocery patterns have shifted to organic and prenatal supplements. The signal is unambiguous.
LifeSync reaches out — gently, on the customer's terms: "Aisha, congratulations seems to be in order. Would you like to look at a 529 college savings strategy as a new sub-account inside Way2Save, a life-insurance update, and a quick banker conversation about paid parental leave planning?"
She says yes to two of three. Cross-sell happens without a campaign, at exactly the moment the customer cares. The CFPB fair-lending review is built into the targeting logic from day 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(75 seconds)
The foundational bet. Most banks' AI pilots stall at scale because they lack unified semantic data, governed orchestration, and bi-directional integration. Without these, agents hallucinate against fragmented data and cannot take action safely.
The four-layer architecture. Semantic Fabric (Customer 360, product catalog of all 8 Personal-tab buckets, knowledge graph, vector store) — single source of truth. Process Fabric (LangGraph, Agentspace, Pega) — agent runtime plus deterministic workflows. Integration Fabric (Kafka, mTLS APIs, A2A/MCP) — how everything talks. Control Plane — governance, registry, explainability.
Why we are partially there. Our compound-systems approach is already aligned to most of this. The gap is the unified semantic fabric — a real, productized Customer 360 accessible from every mobile/web surface.
Investment. $400–600M/year, multi-year. The most expensive single line in this deck — and the prerequisite for everything in Horizon 2.
Anticipated Q: "Build vs. buy?" A: hybrid. Vector store and event mesh are platforms. Semantic fabric is mostly our own product because it's competitively differentiated.
----------
EXAMPLE — FROM FOOD TRUCKS TO A SHARED KITCHEN
Think of it as the difference between a row of food trucks and a real shared kitchen. Today our digital banking capabilities are food trucks — each great at one thing, but each rebuilds its own data plumbing, its own integration into core, its own governance. Customer experiences feel disconnected: the mortgage application doesn't know about the LifeSync goal, the credit card AI doesn't know about the checking pattern.
The Composable Banking OS is one shared kitchen. Every Personal-tab use case shares the same prep stations (data fabric), the same ingredients (Customer 360 — every named product from Active Cash to Premier Checking), the same chefs (agent runtime), the same inspector (control plane). The cost of opening capability number 20 is a fraction of the cost of opening capability number 1.
That's why we have to start now — to make the next 20 use cases possible.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(60 seconds)
Our LIFE algorithm is an underappreciated asset. CFPB's ECOA Reg B and OCC SR 11-7 explainability requirements are tightening. Most banks choose between explainable simple models and inscrutable powerful ones. Wells' LIFE algorithm gives us explainable ML for mortgage — up to 80 variables per loan, NVIDIA-accelerated.
The leap. Extend LIFE with alternative-data features (cash-flow, behavioral, employment, merchant) and federated learning. Result: mortgage pre-approval in the mobile app in minutes, credit-line increase in seconds, Personal Loan instant.
External benchmark. Deutsche Bank 2025: 60% mortgage handling time reduction. 25–40% approval-to-funding improvement cross-industry.
Strategic side benefit. Expanded credit access in underserved segments — both a regulatory positive and a growth lever.
----------
EXAMPLE — MARCUS AT THE HONDA LOT (2027)
It's 2027. Marcus walks onto a Honda lot to look at a Pilot SUV. He's been a Wells customer for nine years (Everyday Checking, Active Cash card, Way2Save). While the dealer is pulling up financing, Marcus opens the Wells Fargo Mobile app and says "what's my best rate on this Pilot?"
The app runs the LIFE algorithm — using his cash-flow, employment trajectory, and merchant patterns — and shows him a personalized rate in 8 seconds, with the explainability behind it. Marcus negotiates with the dealer from a position of strength. He saves $42/month. He stays a Wells customer for another nine years.
Because we surface the offer at the moment of decision — inside the mobile app the customer already trusts — Wells captures the auto loan that would have gone to Honda Financial. The CFPB and OCC see that every adverse-action decision has full LIFE-algorithm explainability — a bar that almost no peer meets.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(60 seconds)
The long game on digital trust. S10 (short-term behavioral biometric) is point-in-time risk-based step-up. L5 is fully continuous. Trust is dynamic — evaluated every second of every session — and the system adjusts allowed actions without bothering the customer.
What's realistic. Fully continuous trust scoring with invisible adjustment — yes, by 2028. The architecture supports both: silent expansion of trust (more allowed) and silent contraction (lock down certain actions). Frictionless on legitimate sessions; protected on suspicious ones.
Economics. 60–80% reduction in mid-session ATO. Near-zero friction on legitimate sessions.
The hard part. Model risk management. Continuous behavioral models drift faster than traditional fraud models. The control plane has to monitor and rebaseline continuously.
----------
EXAMPLE — A SILENT SAVE
Linda opens the Wells Fargo Mobile app at 6:30 AM Tuesday, the way she does every weekday. The system sees her normal device, normal location, normal hand position, normal scroll pattern. Trust score: 99. She gets immediate access to her Everyday Checking, Active Cash, and Way2Save.
Tuesday at 11 PM, someone in another state opens Wells with what appears to be Linda's credentials. Different device, different network, different typing cadence, slight tremor. Trust score drops to 14 silently. The session can still view balance — read-only. But any transfer or wire prompts a multi-factor challenge. The attacker can't pass.
Linda never knew. She wakes up Wednesday and everything is normal. That's what adaptive, continuous trust looks like — completely invisible when you are who you say you are.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(75 seconds)
The biggest unmet need in US banking — and the segment Wells has explicitly named as a growth priority. CFO Santomassimo (Nov 6, 2025): "There's millions of those customers that probably have something like $6 trillion to $8 trillion held away from us." Premier was relaunched October 2025 with enhanced benefits for exactly this reason.
The vision. AI digital RM gives Premier customers Merrill-grade advice at digital cost-to-serve — through the mobile app and web. Portfolio rebalancing, tax-aware optimization, generational planning, proactive market commentary, voice + video.
External benchmark. JPM Coach AI: 95% faster info retrieval; contributed to 20% YoY gross sales growth in AWM 2023→2024. JPM also targets ~50% client-base expansion per RM over 3–5 years.
Regulatory. SEC Reg BI, FINRA, and fiduciary considerations require the agent to recommend in customer's best interest and document why. Non-negotiable.
Anticipated Q: "Does this cannibalize Wealth Management?" A: no — expands the market we can serve at scale. Wells Fargo Advisors gets more handoffs from the mass-affluent base, not fewer.
----------
EXAMPLE — PATRICIA AT $600K
Patricia has $600,000 with us — mostly Premier Checking, Platinum Savings, and a CD ladder. She qualifies for Premier and has a relationship banker but only sees her quarterly. She has real questions in between: should I do a Roth conversion this year? When should I start Social Security? Should my kids refinance their student loans?
Today she gets pamphlets, a 1-800 number, and a 4-week wait for an appointment.
Tomorrow: she opens the Wells Fargo Mobile app, taps "Talk to my Premier RM." Her dedicated banker is the human; the AI does the prep. The AI pulls her full household balance sheet, runs Monte Carlo on Roth conversion timing, models Social Security claiming strategies, gives her advice the quality of which would have cost $400/hour at a fiduciary RIA. Her banker reviews and approves with one tap.
She doesn't move her assets to Schwab or Fidelity. We capture some of the $6–8T held away.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(60 seconds)
The neobank defense. Cleo, Albert, Chime have built brands on AI-powered financial coaching for the under-35 cohort. We lose those customers and the loyalty they represent for the next 40 years.
The solution. A GenAI-powered coach inside the Wells Fargo Mobile app — conversational, personalized, goal-aware. Distinct from L6 RM: broader audience, lighter touch, no fiduciary advice. Sets goals, tracks progress, builds habits.
Different from S3 cash-flow insights. S3 is forecasting + nudges. L7 is conversation + relationship. A customer can ask the coach "how can I save for a vacation by August?" and the coach builds a plan, sets milestones, checks in, adjusts.
Economics. 15–25% lift in savings rate on engaged cohorts. +8–12 NPS. Defense against neobanks.
CFPB UDAAP. Financial advice (even casual) creates UDAAP risk. The coach's guardrails specify what it can and cannot recommend.
----------
EXAMPLE — CARLOS PLANS A JAPAN TRIP
Carlos, 28, opens the Wells Fargo Mobile app and taps Coach. He says: "I want to take a trip to Japan next summer. Can I afford it?"
The coach replies: "Looking at your last 6 months — you spend about $3,200/month on your Active Cash card and Everyday Checking, take home $4,400, save $200. A Japan trip will run roughly $3,500. To do it without debt, you need to save an extra $290/month for 12 months. I see $180 in monthly subscriptions you might reduce. Want me to set up an automatic transfer to a 'Japan Trip' sub-account inside Way2Save and check in monthly?"
Carlos says yes. Twelve months later, he goes to Japan. He posts about it. He tells his friends Wells helped him do it. Cleo and Albert never got him as a customer. That's L7.</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(45 seconds)
The interface transformation. Today the customer navigates an app. Tomorrow they speak, snap a photo of a contractor invoice, share a screenshot showing a competitor's closing-cost document, ask a question — and the bank reads, advises, acts.
What we already have. Spanish Fargo accounts for &gt;80% of usage growth since the September 2023 launch. Multimodal isn't a future bet — it's already proving in our existing footprint.
Economics. Higher engagement among digital-first cohorts. 60% of millennials primarily use mobile banking (PYMNTS). 5–10 pt NPS uplift expected. Plus accessibility expansion — vision impairment, mobility limitations, low literacy.
Tech reality. Multimodal Gemini, Whisper, Document AI + Vision. Hybrid on-device + cloud inference for latency.
----------
EXAMPLE — ROBERTO PAYS HIS CONTRACTOR
Roberto's home contractor sends him an invoice via text message. Roberto takes a screenshot, sends it to the Wells Fargo Mobile app on his phone, says in Spanish, "Es correcto? Págalo si es así."
The app reads the invoice (Document AI), cross-references the contract Roberto uploaded last month, confirms the scope-of-work and the amount match, asks Roberto for the final yes, pays the contractor from his Everyday Checking. The entire exchange is voice and image — no app navigation, no typing.
Spanish Fargo is already &gt;80% of our usage growth since September 2023. We aren't designing for some future cohort — we're designing for what our customers are already doing.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(60 seconds)
The invisible channel handoff. Today channel handoffs feel like restart events. Customer calls about a mortgage, opens the mobile app, then walks into a branch — and each time they repeat themselves.
The solution. A central orchestrator that watches every customer signal across channels and pre-positions the right action, content, and human handoff. Channel handoffs become invisible.
What we already have. Pega Customer Decision Hub running 6B decisions/month is the spine. The leap is adding GenAI decisioning, unified Customer 360, real-time cross-channel signal aggregation.
Economics. 3–10x engagement uplift (Pega benchmark already proven at Wells). 10–20% cross-sell uplift. Dramatic reduction in repeat contacts.
Gating dependency: Customer 360 unification — same as L3.
----------
EXAMPLE — LINDA'S MORTGAGE, THREE SURFACES, ONE STORY
Linda calls about a Wells Fargo mortgage application on Monday. Drives to a branch on Tuesday to drop off her W-2s. Opens the Wells Fargo Mobile app on Wednesday to check status.
Today: she repeats her story three times. The branch banker does not see Monday's call. The app status is two days stale.
Tomorrow: Tuesday morning, the branch banker's screen opens with "Linda just called Monday about her mortgage application — here's where it stands, here are the documents she still needs to bring in." Wednesday morning, Linda opens the mobile app and it says "We received your documents at 11:20 AM yesterday. Underwriting will review by Tuesday next week."
One conversation across three surfaces. She trusts us more. Pega already runs 6B decisions/month for us — this is amplification of an existing investment.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(60 seconds)
The full-picture strategy. Average US household has 5–7 financial relationships. None see the full picture — including Wells. We make Wells the customer's primary financial dashboard by aggregating external accounts and providing AI insights on top.
Why this matters now. Empower (formerly Personal Capital), Monarch Money, Copilot — these are growing because they aggregate. They own the unified view that Wells should own as the primary bank. LifeSync already aggregates (per Wells: "client asset aggregating is table stakes"). We extend the AI-insight layer.
The strategic frame. We don't compete with aggregators — we use them (Plaid, MX, Yodlee, Finicity) and add the AI insight layer. The pipes are commoditized; the insights are the moat.
Economics. Primary-bank capture among multi-bank households. Defense against PFM aggregators. Deeper share-of-wallet via advice-led insights.
----------
EXAMPLE — SARAH BECOMES A WELLS-PRIMARY CUSTOMER
Sarah, 34, has Wells as her primary checking (Everyday + Active Cash), Vanguard for her 401k, Schwab for her brokerage, Discover for a card, and an old Chase savings. She uses Empower today to see it all in one place.
Tomorrow Wells lets her connect those accounts inside the Wells Fargo Mobile app via LifeSync. The AI says: "You have $47,500 across 4 accounts plus $112,000 in retirement. You're paying $14/month in fees you could avoid (Chase savings dormant, Schwab inactivity). Your Discover balance ($3,200) is at 22% APR — your Wells Reflect card could offer 0% balance transfer for 18 months, saving you ~$1,150 in interest. Want to see how?"
Sarah moves the Chase savings to Way2Save. Sarah does the balance transfer to Reflect. Sarah starts using Wells for more. Wells is now her primary financial dashboard, not Empower — and we used their plumbing to do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457200" y="457200"/>
            <a:ext cx="109728" cy="5943600"/>
          </a:xfrm>
          <a:prstGeom prst="rect">
            <a:avLst/>
          </a:prstGeom>
          <a:solidFill>
            <a:srgbClr val="C99A2E"/>
          </a:solidFill>
          <a:ln/>
        </p:spPr>
        <p:txBody>
          <a:bodyPr/>
          <a:lstStyle/>
          <a:p>
            <a:endParaRPr lang="en-US"/>
          </a:p>
        </p:txBody>
      </p:sp>
      <p:sp>
        <p:nvSpPr>
          <p:cNvPr id="3" name="Text 1"/>
          <p:cNvSpPr/>
          <p:nvPr/>
        </p:nvSpPr>
        <p:spPr>
          <a:xfrm>
            <a:off x="777240" y="502920"/>
            <a:ext cx="5486400" cy="320040"/>
          </a:xfrm>
          <a:prstGeom prst="rect">
            <a:avLst/>
          </a:prstGeom>
          <a:noFill/>
          <a:ln/>
        </p:spPr>
        <p:txBody>
          <a:bodyPr wrap="square" rtlCol="0" anchor="ctr"/>
          <a:lstStyle/>
          <a:p>
            <a:pPr marL="0" indent="0">
              <a:buNone/>
            </a:pPr>
            <a:r>
              <a:rPr lang="en-US" sz="1100" b="1" kern="0" spc="600" dirty="0">
                <a:solidFill>
                  <a:srgbClr val="C99A2E"/>
                </a:solidFill>
                <a:latin typeface="Calibri" pitchFamily="34" charset="0"/>
                <a:ea typeface="Calibri" pitchFamily="34" charset="-122"/>
                <a:cs typeface="Calibri" pitchFamily="34" charset="-120"/>
              </a:rPr>
              <a:t>WELLS FARGO</a:t>
            </a:r>
            <a:endParaRPr lang="en-US" sz="1100" dirty="0"/>
          </a:p>
        </p:txBody>
      </p:sp>
      <p:sp>
        <p:nvSpPr>
          <p:cNvPr id="4" name="Text 2"/>
          <p:cNvSpPr/>
          <p:nvPr/>
        </p:nvSpPr>
        <p:spPr>
          <a:xfrm>
            <a:off x="777240" y="2377440"/>
            <a:ext cx="10515600" cy="914400"/>
          </a:xfrm>
          <a:prstGeom prst="rect">
            <a:avLst/>
          </a:prstGeom>
          <a:noFill/>
          <a:ln/>
        </p:spPr>
        <p:txBody>
          <a:bodyPr wrap="square" lIns="0" tIns="0" rIns="0" bIns="0" rtlCol="0" anchor="ctr"/>
          <a:lstStyle/>
          <a:p>
            <a:pPr marL="0" indent="0">
              <a:buNone/>
            </a:pPr>
            <a:r>
              <a:rPr lang="en-US" sz="5200" b="1" dirty="0">
                <a:solidFill>
                  <a:srgbClr val="FFFFFF"/>
                </a:solidFill>
                <a:latin typeface="Georgia" pitchFamily="34" charset="0"/>
                <a:ea typeface="Georgia" pitchFamily="34" charset="-122"/>
                <a:cs typeface="Georgia" pitchFamily="34" charset="-120"/>
              </a:rPr>
              <a:t>AI in Retail Banking</a:t>
            </a:r>
            <a:endParaRPr lang="en-US" sz="5200" dirty="0"/>
          </a:p>
        </p:txBody>
      </p:sp>
      <p:sp>
        <p:nvSpPr>
          <p:cNvPr id="5" name="Text 3"/>
          <p:cNvSpPr/>
          <p:nvPr/>
        </p:nvSpPr>
        <p:spPr>
          <a:xfrm>
            <a:off x="777240" y="3383280"/>
            <a:ext cx="10515600" cy="502920"/>
          </a:xfrm>
          <a:prstGeom prst="rect">
            <a:avLst/>
          </a:prstGeom>
          <a:noFill/>
          <a:ln/>
        </p:spPr>
        <p:txBody>
          <a:bodyPr wrap="square" lIns="0" tIns="0" rIns="0" bIns="0" rtlCol="0" anchor="ctr"/>
          <a:lstStyle/>
          <a:p>
            <a:pPr marL="0" indent="0">
              <a:buNone/>
            </a:pPr>
            <a:r>
              <a:rPr lang="en-US" sz="2200" i="1" dirty="0">
                <a:solidFill>
                  <a:srgbClr val="C99A2E"/>
                </a:solidFill>
                <a:latin typeface="Georgia" pitchFamily="34" charset="0"/>
                <a:ea typeface="Georgia" pitchFamily="34" charset="-122"/>
                <a:cs typeface="Georgia" pitchFamily="34" charset="-120"/>
              </a:rPr>
              <a:t>Customer Journey &amp; Digital Architecture for the AI-Driven Future</a:t>
            </a:r>
            <a:endParaRPr lang="en-US" sz="2200" dirty="0"/>
          </a:p>
        </p:txBody>
      </p:sp>
      <p:sp>
        <p:nvSpPr>
          <p:cNvPr id="6" name="Text 4"/>
          <p:cNvSpPr/>
          <p:nvPr/>
        </p:nvSpPr>
        <p:spPr>
          <a:xfrm>
            <a:off x="777240" y="4160520"/>
            <a:ext cx="10515600" cy="365760"/>
          </a:xfrm>
          <a:prstGeom prst="rect">
            <a:avLst/>
          </a:prstGeom>
          <a:noFill/>
          <a:ln/>
        </p:spPr>
        <p:txBody>
          <a:bodyPr wrap="square" lIns="0" tIns="0" rIns="0" bIns="0" rtlCol="0" anchor="ctr"/>
          <a:lstStyle/>
          <a:p>
            <a:pPr marL="0" indent="0">
              <a:buNone/>
            </a:pPr>
            <a:r>
              <a:rPr lang="en-US" sz="1300" dirty="0">
                <a:solidFill>
                  <a:srgbClr val="BFBFBF"/>
                </a:solidFill>
                <a:latin typeface="Calibri" pitchFamily="34" charset="0"/>
                <a:ea typeface="Calibri" pitchFamily="34" charset="-122"/>
                <a:cs typeface="Calibri" pitchFamily="34" charset="-120"/>
              </a:rPr>
              <a:t>Scope: 8 product categories, journey pages, and the Fargo / LifeSync surfaces</a:t>
            </a:r>
            <a:endParaRPr lang="en-US" sz="1300" dirty="0"/>
          </a:p>
        </p:txBody>
      </p:sp>
      <p:sp>
        <p:nvSpPr>
          <p:cNvPr id="7" name="Text 5"/>
          <p:cNvSpPr/>
          <p:nvPr/>
        </p:nvSpPr>
        <p:spPr>
          <a:xfrm>
            <a:off x="777240" y="5989320"/>
            <a:ext cx="10515600" cy="274320"/>
          </a:xfrm>
          <a:prstGeom prst="rect">
            <a:avLst/>
          </a:prstGeom>
          <a:noFill/>
          <a:ln/>
        </p:spPr>
        <p:txBody>
          <a:bodyPr wrap="square" rtlCol="0" anchor="ctr"/>
          <a:lstStyle/>
          <a:p>
            <a:pPr marL="0" indent="0">
              <a:buNone/>
            </a:pPr>
            <a:r>
              <a:rPr lang="en-US" sz="1100" b="1" kern="0" spc="300" dirty="0">
                <a:solidFill>
                  <a:srgbClr val="C99A2E"/>
                </a:solidFill>
                <a:latin typeface="Calibri" pitchFamily="34" charset="0"/>
                <a:ea typeface="Calibri" pitchFamily="34" charset="-122"/>
                <a:cs typeface="Calibri" pitchFamily="34" charset="-120"/>
              </a:rPr>
              <a:t>Executive Briefing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lIns="0" tIns="0" rIns="0" bIns="0" rtlCol="0" anchor="ctr"/>
          <a:lstStyle/>
          <a:p>
            <a:pPr marL="0" indent="0">
              <a:buNone/>
            </a:pPr>
            <a:r>
              <a:rPr lang="en-US" sz="1000" b="1" kern="0" spc="400" dirty="0">
                <a:solidFill>
                  <a:srgbClr val="B31B1B"/>
                </a:solidFill>
                <a:latin typeface="Calibri" pitchFamily="34" charset="0"/>
                <a:ea typeface="Calibri" pitchFamily="34" charset="-122"/>
                <a:cs typeface="Calibri" pitchFamily="34" charset="-120"/>
              </a:rPr>
              <a:t>EXECUTIVE SUMMARY</a:t>
            </a:r>
            <a:endParaRPr lang="en-US" sz="1000" dirty="0"/>
          </a:p>
        </p:txBody>
      </p:sp>
      <p:sp>
        <p:nvSpPr>
          <p:cNvPr id="3" name="Text 1"/>
          <p:cNvSpPr/>
          <p:nvPr/>
        </p:nvSpPr>
        <p:spPr>
          <a:xfrm>
            <a:off x="457200" y="621792"/>
            <a:ext cx="11247120" cy="868680"/>
          </a:xfrm>
          <a:prstGeom prst="rect">
            <a:avLst/>
          </a:prstGeom>
          <a:noFill/>
          <a:ln/>
        </p:spPr>
        <p:txBody>
          <a:bodyPr wrap="square" lIns="0" tIns="0" rIns="0" bIns="0" rtlCol="0" anchor="ctr"/>
          <a:lstStyle/>
          <a:p>
            <a:pPr marL="0" indent="0">
              <a:buNone/>
            </a:pPr>
            <a:r>
              <a:rPr lang="en-US" sz="2800" b="1" dirty="0">
                <a:solidFill>
                  <a:srgbClr val="1A1A1A"/>
                </a:solidFill>
                <a:latin typeface="Georgia" pitchFamily="34" charset="0"/>
                <a:ea typeface="Georgia" pitchFamily="34" charset="-122"/>
                <a:cs typeface="Georgia" pitchFamily="34" charset="-120"/>
              </a:rPr>
              <a:t>20 AI use cases mapped to the RETAIL BANKING — to win the next decade of retail banking</a:t>
            </a:r>
            <a:endParaRPr lang="en-US" sz="2800" dirty="0"/>
          </a:p>
        </p:txBody>
      </p:sp>
      <p:sp>
        <p:nvSpPr>
          <p:cNvPr id="4" name="Text 2"/>
          <p:cNvSpPr/>
          <p:nvPr/>
        </p:nvSpPr>
        <p:spPr>
          <a:xfrm>
            <a:off x="457200" y="1828800"/>
            <a:ext cx="5669280" cy="274320"/>
          </a:xfrm>
          <a:prstGeom prst="rect">
            <a:avLst/>
          </a:prstGeom>
          <a:noFill/>
          <a:ln/>
        </p:spPr>
        <p:txBody>
          <a:bodyPr wrap="square" lIns="0" tIns="0" rIns="0" bIns="0" rtlCol="0" anchor="ctr"/>
          <a:lstStyle/>
          <a:p>
            <a:pPr marL="0" indent="0">
              <a:buNone/>
            </a:pPr>
            <a:r>
              <a:rPr lang="en-US" sz="1100" b="1" kern="0" spc="300" dirty="0">
                <a:solidFill>
                  <a:srgbClr val="B31B1B"/>
                </a:solidFill>
                <a:latin typeface="Calibri" pitchFamily="34" charset="0"/>
                <a:ea typeface="Calibri" pitchFamily="34" charset="-122"/>
                <a:cs typeface="Calibri" pitchFamily="34" charset="-120"/>
              </a:rPr>
              <a:t>THE STRATEGIC CHOICE</a:t>
            </a:r>
            <a:endParaRPr lang="en-US" sz="1100" dirty="0"/>
          </a:p>
        </p:txBody>
      </p:sp>
      <p:sp>
        <p:nvSpPr>
          <p:cNvPr id="5" name="Text 3"/>
          <p:cNvSpPr/>
          <p:nvPr/>
        </p:nvSpPr>
        <p:spPr>
          <a:xfrm>
            <a:off x="457200" y="2148840"/>
            <a:ext cx="5669280" cy="4114800"/>
          </a:xfrm>
          <a:prstGeom prst="rect">
            <a:avLst/>
          </a:prstGeom>
          <a:noFill/>
          <a:ln/>
        </p:spPr>
        <p:txBody>
          <a:bodyPr wrap="square" lIns="0" tIns="0" rIns="0" bIns="0" rtlCol="0" anchor="t"/>
          <a:lstStyle/>
          <a:p>
            <a:pPr marL="0" indent="0">
              <a:spcAft>
                <a:spcPts val="1000"/>
              </a:spcAft>
              <a:buNone/>
            </a:pPr>
            <a:r>
              <a:rPr lang="en-US" sz="1200" dirty="0">
                <a:solidFill>
                  <a:srgbClr val="3D3D3D"/>
                </a:solidFill>
                <a:latin typeface="Calibri" pitchFamily="34" charset="0"/>
                <a:ea typeface="Calibri" pitchFamily="34" charset="-122"/>
                <a:cs typeface="Calibri" pitchFamily="34" charset="-120"/>
              </a:rPr>
              <a:t>Wells Fargo has crossed 1 billion cumulative Fargo interactions (Nov 2025) and serves 33M+ mobile active customers — operationally we are at scale. But customer-facing AI breadth and proactivity still trail JPM (450+ use cases) and BofA (Erica: 676M interactions in 2024).</a:t>
            </a:r>
            <a:endParaRPr lang="en-US" sz="1200" dirty="0"/>
          </a:p>
          <a:p>
            <a:pPr marL="0" indent="0">
              <a:spcAft>
                <a:spcPts val="1000"/>
              </a:spcAft>
              <a:buNone/>
            </a:pPr>
            <a:r>
              <a:rPr lang="en-US" sz="1200" dirty="0">
                <a:solidFill>
                  <a:srgbClr val="3D3D3D"/>
                </a:solidFill>
                <a:latin typeface="Calibri" pitchFamily="34" charset="0"/>
                <a:ea typeface="Calibri" pitchFamily="34" charset="-122"/>
                <a:cs typeface="Calibri" pitchFamily="34" charset="-120"/>
              </a:rPr>
              <a:t>This deck proposes 20 AI use cases — 10 short-term (0–12 months) and 10 long-term (12–36 months) — strictly anchored to the 8 navigation buckets and journey pages under the RETAIL BANKING at wellsfargo.com.</a:t>
            </a:r>
            <a:endParaRPr lang="en-US" sz="1200" dirty="0"/>
          </a:p>
          <a:p>
            <a:pPr marL="0" indent="0">
              <a:spcAft>
                <a:spcPts val="800"/>
              </a:spcAft>
              <a:buNone/>
            </a:pPr>
            <a:r>
              <a:rPr lang="en-US" sz="1200" dirty="0">
                <a:solidFill>
                  <a:srgbClr val="3D3D3D"/>
                </a:solidFill>
                <a:latin typeface="Calibri" pitchFamily="34" charset="0"/>
                <a:ea typeface="Calibri" pitchFamily="34" charset="-122"/>
                <a:cs typeface="Calibri" pitchFamily="34" charset="-120"/>
              </a:rPr>
              <a:t>Investment ask: ~$1.4–1.6B/year incremental through 2028. Projected run-rate value: $5–7.5B by 2028. Centerpiece: extend Fargo and LifeSync into every Personal-tab product surface.</a:t>
            </a:r>
            <a:endParaRPr lang="en-US" sz="1200" dirty="0"/>
          </a:p>
        </p:txBody>
      </p:sp>
      <p:sp>
        <p:nvSpPr>
          <p:cNvPr id="6" name="Shape 4"/>
          <p:cNvSpPr/>
          <p:nvPr/>
        </p:nvSpPr>
        <p:spPr>
          <a:xfrm>
            <a:off x="6583680" y="1828800"/>
            <a:ext cx="5120640" cy="1234440"/>
          </a:xfrm>
          <a:prstGeom prst="rect">
            <a:avLst/>
          </a:prstGeom>
          <a:solidFill>
            <a:srgbClr val="F7F4EE"/>
          </a:solidFill>
          <a:ln/>
        </p:spPr>
        <p:txBody>
          <a:bodyPr/>
          <a:lstStyle/>
          <a:p>
            <a:endParaRPr lang="en-US"/>
          </a:p>
        </p:txBody>
      </p:sp>
      <p:sp>
        <p:nvSpPr>
          <p:cNvPr id="7" name="Shape 5"/>
          <p:cNvSpPr/>
          <p:nvPr/>
        </p:nvSpPr>
        <p:spPr>
          <a:xfrm>
            <a:off x="6583680" y="1828800"/>
            <a:ext cx="91440" cy="1234440"/>
          </a:xfrm>
          <a:prstGeom prst="rect">
            <a:avLst/>
          </a:prstGeom>
          <a:solidFill>
            <a:srgbClr val="B31B1B"/>
          </a:solidFill>
          <a:ln/>
        </p:spPr>
        <p:txBody>
          <a:bodyPr/>
          <a:lstStyle/>
          <a:p>
            <a:endParaRPr lang="en-US"/>
          </a:p>
        </p:txBody>
      </p:sp>
      <p:sp>
        <p:nvSpPr>
          <p:cNvPr id="8" name="Text 6"/>
          <p:cNvSpPr/>
          <p:nvPr/>
        </p:nvSpPr>
        <p:spPr>
          <a:xfrm>
            <a:off x="6766560" y="1965960"/>
            <a:ext cx="2560320" cy="914400"/>
          </a:xfrm>
          <a:prstGeom prst="rect">
            <a:avLst/>
          </a:prstGeom>
          <a:noFill/>
          <a:ln/>
        </p:spPr>
        <p:txBody>
          <a:bodyPr wrap="square" lIns="0" tIns="0" rIns="0" bIns="0" rtlCol="0" anchor="ctr"/>
          <a:lstStyle/>
          <a:p>
            <a:pPr marL="0" indent="0">
              <a:buNone/>
            </a:pPr>
            <a:r>
              <a:rPr lang="en-US" sz="3200" b="1" dirty="0">
                <a:solidFill>
                  <a:srgbClr val="B31B1B"/>
                </a:solidFill>
                <a:latin typeface="Georgia" pitchFamily="34" charset="0"/>
                <a:ea typeface="Georgia" pitchFamily="34" charset="-122"/>
                <a:cs typeface="Georgia" pitchFamily="34" charset="-120"/>
              </a:rPr>
              <a:t>1B+</a:t>
            </a:r>
            <a:endParaRPr lang="en-US" sz="3200" dirty="0"/>
          </a:p>
        </p:txBody>
      </p:sp>
      <p:sp>
        <p:nvSpPr>
          <p:cNvPr id="9" name="Text 7"/>
          <p:cNvSpPr/>
          <p:nvPr/>
        </p:nvSpPr>
        <p:spPr>
          <a:xfrm>
            <a:off x="9326880" y="2194560"/>
            <a:ext cx="2286000" cy="777240"/>
          </a:xfrm>
          <a:prstGeom prst="rect">
            <a:avLst/>
          </a:prstGeom>
          <a:noFill/>
          <a:ln/>
        </p:spPr>
        <p:txBody>
          <a:bodyPr wrap="square" lIns="0" tIns="0" rIns="0" bIns="0" rtlCol="0" anchor="ctr"/>
          <a:lstStyle/>
          <a:p>
            <a:pPr marL="0" indent="0">
              <a:buNone/>
            </a:pPr>
            <a:r>
              <a:rPr lang="en-US" sz="1100" dirty="0">
                <a:solidFill>
                  <a:srgbClr val="3D3D3D"/>
                </a:solidFill>
                <a:latin typeface="Calibri" pitchFamily="34" charset="0"/>
                <a:ea typeface="Calibri" pitchFamily="34" charset="-122"/>
                <a:cs typeface="Calibri" pitchFamily="34" charset="-120"/>
              </a:rPr>
              <a:t>Fargo cumulative interactions (Nov 2025)</a:t>
            </a:r>
            <a:endParaRPr lang="en-US" sz="1100" dirty="0"/>
          </a:p>
        </p:txBody>
      </p:sp>
      <p:sp>
        <p:nvSpPr>
          <p:cNvPr id="10" name="Shape 8"/>
          <p:cNvSpPr/>
          <p:nvPr/>
        </p:nvSpPr>
        <p:spPr>
          <a:xfrm>
            <a:off x="6583680" y="3246120"/>
            <a:ext cx="5120640" cy="1234440"/>
          </a:xfrm>
          <a:prstGeom prst="rect">
            <a:avLst/>
          </a:prstGeom>
          <a:solidFill>
            <a:srgbClr val="F7F4EE"/>
          </a:solidFill>
          <a:ln/>
        </p:spPr>
        <p:txBody>
          <a:bodyPr/>
          <a:lstStyle/>
          <a:p>
            <a:endParaRPr lang="en-US"/>
          </a:p>
        </p:txBody>
      </p:sp>
      <p:sp>
        <p:nvSpPr>
          <p:cNvPr id="11" name="Shape 9"/>
          <p:cNvSpPr/>
          <p:nvPr/>
        </p:nvSpPr>
        <p:spPr>
          <a:xfrm>
            <a:off x="6583680" y="3246120"/>
            <a:ext cx="91440" cy="1234440"/>
          </a:xfrm>
          <a:prstGeom prst="rect">
            <a:avLst/>
          </a:prstGeom>
          <a:solidFill>
            <a:srgbClr val="B31B1B"/>
          </a:solidFill>
          <a:ln/>
        </p:spPr>
        <p:txBody>
          <a:bodyPr/>
          <a:lstStyle/>
          <a:p>
            <a:endParaRPr lang="en-US"/>
          </a:p>
        </p:txBody>
      </p:sp>
      <p:sp>
        <p:nvSpPr>
          <p:cNvPr id="12" name="Text 10"/>
          <p:cNvSpPr/>
          <p:nvPr/>
        </p:nvSpPr>
        <p:spPr>
          <a:xfrm>
            <a:off x="6766560" y="3383280"/>
            <a:ext cx="2560320" cy="914400"/>
          </a:xfrm>
          <a:prstGeom prst="rect">
            <a:avLst/>
          </a:prstGeom>
          <a:noFill/>
          <a:ln/>
        </p:spPr>
        <p:txBody>
          <a:bodyPr wrap="square" lIns="0" tIns="0" rIns="0" bIns="0" rtlCol="0" anchor="ctr"/>
          <a:lstStyle/>
          <a:p>
            <a:pPr marL="0" indent="0">
              <a:buNone/>
            </a:pPr>
            <a:r>
              <a:rPr lang="en-US" sz="3200" b="1" dirty="0">
                <a:solidFill>
                  <a:srgbClr val="B31B1B"/>
                </a:solidFill>
                <a:latin typeface="Georgia" pitchFamily="34" charset="0"/>
                <a:ea typeface="Georgia" pitchFamily="34" charset="-122"/>
                <a:cs typeface="Georgia" pitchFamily="34" charset="-120"/>
              </a:rPr>
              <a:t>33M+</a:t>
            </a:r>
            <a:endParaRPr lang="en-US" sz="3200" dirty="0"/>
          </a:p>
        </p:txBody>
      </p:sp>
      <p:sp>
        <p:nvSpPr>
          <p:cNvPr id="13" name="Text 11"/>
          <p:cNvSpPr/>
          <p:nvPr/>
        </p:nvSpPr>
        <p:spPr>
          <a:xfrm>
            <a:off x="9326880" y="3611880"/>
            <a:ext cx="2286000" cy="777240"/>
          </a:xfrm>
          <a:prstGeom prst="rect">
            <a:avLst/>
          </a:prstGeom>
          <a:noFill/>
          <a:ln/>
        </p:spPr>
        <p:txBody>
          <a:bodyPr wrap="square" lIns="0" tIns="0" rIns="0" bIns="0" rtlCol="0" anchor="ctr"/>
          <a:lstStyle/>
          <a:p>
            <a:pPr marL="0" indent="0">
              <a:buNone/>
            </a:pPr>
            <a:r>
              <a:rPr lang="en-US" sz="1100" dirty="0">
                <a:solidFill>
                  <a:srgbClr val="3D3D3D"/>
                </a:solidFill>
                <a:latin typeface="Calibri" pitchFamily="34" charset="0"/>
                <a:ea typeface="Calibri" pitchFamily="34" charset="-122"/>
                <a:cs typeface="Calibri" pitchFamily="34" charset="-120"/>
              </a:rPr>
              <a:t>Wells Fargo Mobile active users</a:t>
            </a:r>
            <a:endParaRPr lang="en-US" sz="1100" dirty="0"/>
          </a:p>
        </p:txBody>
      </p:sp>
      <p:sp>
        <p:nvSpPr>
          <p:cNvPr id="14" name="Shape 12"/>
          <p:cNvSpPr/>
          <p:nvPr/>
        </p:nvSpPr>
        <p:spPr>
          <a:xfrm>
            <a:off x="6583680" y="4663440"/>
            <a:ext cx="5120640" cy="1234440"/>
          </a:xfrm>
          <a:prstGeom prst="rect">
            <a:avLst/>
          </a:prstGeom>
          <a:solidFill>
            <a:srgbClr val="F7F4EE"/>
          </a:solidFill>
          <a:ln/>
        </p:spPr>
        <p:txBody>
          <a:bodyPr/>
          <a:lstStyle/>
          <a:p>
            <a:endParaRPr lang="en-US"/>
          </a:p>
        </p:txBody>
      </p:sp>
      <p:sp>
        <p:nvSpPr>
          <p:cNvPr id="15" name="Shape 13"/>
          <p:cNvSpPr/>
          <p:nvPr/>
        </p:nvSpPr>
        <p:spPr>
          <a:xfrm>
            <a:off x="6583680" y="4663440"/>
            <a:ext cx="91440" cy="1234440"/>
          </a:xfrm>
          <a:prstGeom prst="rect">
            <a:avLst/>
          </a:prstGeom>
          <a:solidFill>
            <a:srgbClr val="B31B1B"/>
          </a:solidFill>
          <a:ln/>
        </p:spPr>
        <p:txBody>
          <a:bodyPr/>
          <a:lstStyle/>
          <a:p>
            <a:endParaRPr lang="en-US"/>
          </a:p>
        </p:txBody>
      </p:sp>
      <p:sp>
        <p:nvSpPr>
          <p:cNvPr id="16" name="Text 14"/>
          <p:cNvSpPr/>
          <p:nvPr/>
        </p:nvSpPr>
        <p:spPr>
          <a:xfrm>
            <a:off x="6766560" y="4800600"/>
            <a:ext cx="2560320" cy="914400"/>
          </a:xfrm>
          <a:prstGeom prst="rect">
            <a:avLst/>
          </a:prstGeom>
          <a:noFill/>
          <a:ln/>
        </p:spPr>
        <p:txBody>
          <a:bodyPr wrap="square" lIns="0" tIns="0" rIns="0" bIns="0" rtlCol="0" anchor="ctr"/>
          <a:lstStyle/>
          <a:p>
            <a:pPr marL="0" indent="0">
              <a:buNone/>
            </a:pPr>
            <a:r>
              <a:rPr lang="en-US" sz="3200" b="1" dirty="0">
                <a:solidFill>
                  <a:srgbClr val="B31B1B"/>
                </a:solidFill>
                <a:latin typeface="Georgia" pitchFamily="34" charset="0"/>
                <a:ea typeface="Georgia" pitchFamily="34" charset="-122"/>
                <a:cs typeface="Georgia" pitchFamily="34" charset="-120"/>
              </a:rPr>
              <a:t>$5–7.5B</a:t>
            </a:r>
            <a:endParaRPr lang="en-US" sz="3200" dirty="0"/>
          </a:p>
        </p:txBody>
      </p:sp>
      <p:sp>
        <p:nvSpPr>
          <p:cNvPr id="17" name="Text 15"/>
          <p:cNvSpPr/>
          <p:nvPr/>
        </p:nvSpPr>
        <p:spPr>
          <a:xfrm>
            <a:off x="9326880" y="5029200"/>
            <a:ext cx="2286000" cy="777240"/>
          </a:xfrm>
          <a:prstGeom prst="rect">
            <a:avLst/>
          </a:prstGeom>
          <a:noFill/>
          <a:ln/>
        </p:spPr>
        <p:txBody>
          <a:bodyPr wrap="square" lIns="0" tIns="0" rIns="0" bIns="0" rtlCol="0" anchor="ctr"/>
          <a:lstStyle/>
          <a:p>
            <a:pPr marL="0" indent="0">
              <a:buNone/>
            </a:pPr>
            <a:r>
              <a:rPr lang="en-US" sz="1100" dirty="0">
                <a:solidFill>
                  <a:srgbClr val="3D3D3D"/>
                </a:solidFill>
                <a:latin typeface="Calibri" pitchFamily="34" charset="0"/>
                <a:ea typeface="Calibri" pitchFamily="34" charset="-122"/>
                <a:cs typeface="Calibri" pitchFamily="34" charset="-120"/>
              </a:rPr>
              <a:t>Projected AI run-rate value by 2028</a:t>
            </a:r>
            <a:endParaRPr lang="en-US" sz="1100" dirty="0"/>
          </a:p>
        </p:txBody>
      </p:sp>
      <p:sp>
        <p:nvSpPr>
          <p:cNvPr id="18" name="Text 16"/>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19" name="Text 17"/>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11247120" cy="274320"/>
          </a:xfrm>
          <a:prstGeom prst="rect">
            <a:avLst/>
          </a:prstGeom>
          <a:noFill/>
          <a:ln/>
        </p:spPr>
        <p:txBody>
          <a:bodyPr wrap="square" lIns="0" tIns="0" rIns="0" bIns="0" rtlCol="0" anchor="ctr"/>
          <a:lstStyle/>
          <a:p>
            <a:pPr marL="0" indent="0">
              <a:buNone/>
            </a:pPr>
            <a:r>
              <a:rPr lang="en-US" sz="1000" b="1" kern="0" spc="400" dirty="0">
                <a:solidFill>
                  <a:srgbClr val="B31B1B"/>
                </a:solidFill>
                <a:latin typeface="Calibri" pitchFamily="34" charset="0"/>
                <a:ea typeface="Calibri" pitchFamily="34" charset="-122"/>
                <a:cs typeface="Calibri" pitchFamily="34" charset="-120"/>
              </a:rPr>
              <a:t>IN-SCOPE</a:t>
            </a:r>
            <a:endParaRPr lang="en-US" sz="1000" dirty="0"/>
          </a:p>
        </p:txBody>
      </p:sp>
      <p:sp>
        <p:nvSpPr>
          <p:cNvPr id="3" name="Text 1"/>
          <p:cNvSpPr/>
          <p:nvPr/>
        </p:nvSpPr>
        <p:spPr>
          <a:xfrm>
            <a:off x="457200" y="621792"/>
            <a:ext cx="11247120" cy="868680"/>
          </a:xfrm>
          <a:prstGeom prst="rect">
            <a:avLst/>
          </a:prstGeom>
          <a:noFill/>
          <a:ln/>
        </p:spPr>
        <p:txBody>
          <a:bodyPr wrap="square" lIns="0" tIns="0" rIns="0" bIns="0" rtlCol="0" anchor="ctr"/>
          <a:lstStyle/>
          <a:p>
            <a:pPr marL="0" indent="0">
              <a:buNone/>
            </a:pPr>
            <a:r>
              <a:rPr lang="en-US" sz="2800" b="1" dirty="0">
                <a:solidFill>
                  <a:srgbClr val="1A1A1A"/>
                </a:solidFill>
                <a:latin typeface="Georgia" pitchFamily="34" charset="0"/>
                <a:ea typeface="Georgia" pitchFamily="34" charset="-122"/>
                <a:cs typeface="Georgia" pitchFamily="34" charset="-120"/>
              </a:rPr>
              <a:t>Retail Banking Scope</a:t>
            </a:r>
            <a:endParaRPr lang="en-US" sz="2800" dirty="0"/>
          </a:p>
        </p:txBody>
      </p:sp>
      <p:sp>
        <p:nvSpPr>
          <p:cNvPr id="4" name="Text 2"/>
          <p:cNvSpPr/>
          <p:nvPr/>
        </p:nvSpPr>
        <p:spPr>
          <a:xfrm>
            <a:off x="457200" y="1691640"/>
            <a:ext cx="6858000" cy="274320"/>
          </a:xfrm>
          <a:prstGeom prst="rect">
            <a:avLst/>
          </a:prstGeom>
          <a:noFill/>
          <a:ln/>
        </p:spPr>
        <p:txBody>
          <a:bodyPr wrap="square" rtlCol="0" anchor="ctr"/>
          <a:lstStyle/>
          <a:p>
            <a:pPr marL="0" indent="0">
              <a:buNone/>
            </a:pPr>
            <a:r>
              <a:rPr lang="en-US" sz="1100" b="1" kern="0" spc="300" dirty="0">
                <a:solidFill>
                  <a:srgbClr val="B31B1B"/>
                </a:solidFill>
                <a:latin typeface="Calibri" pitchFamily="34" charset="0"/>
                <a:ea typeface="Calibri" pitchFamily="34" charset="-122"/>
                <a:cs typeface="Calibri" pitchFamily="34" charset="-120"/>
              </a:rPr>
              <a:t>8 PRODUCT NAVIGATION BUCKETS</a:t>
            </a:r>
            <a:endParaRPr lang="en-US" sz="1100" dirty="0"/>
          </a:p>
        </p:txBody>
      </p:sp>
      <p:sp>
        <p:nvSpPr>
          <p:cNvPr id="5" name="Shape 3"/>
          <p:cNvSpPr/>
          <p:nvPr/>
        </p:nvSpPr>
        <p:spPr>
          <a:xfrm>
            <a:off x="457200" y="2057400"/>
            <a:ext cx="3383280" cy="777240"/>
          </a:xfrm>
          <a:prstGeom prst="rect">
            <a:avLst/>
          </a:prstGeom>
          <a:solidFill>
            <a:srgbClr val="F7F4EE"/>
          </a:solidFill>
          <a:ln/>
        </p:spPr>
        <p:txBody>
          <a:bodyPr/>
          <a:lstStyle/>
          <a:p>
            <a:endParaRPr lang="en-US"/>
          </a:p>
        </p:txBody>
      </p:sp>
      <p:sp>
        <p:nvSpPr>
          <p:cNvPr id="6" name="Shape 4"/>
          <p:cNvSpPr/>
          <p:nvPr/>
        </p:nvSpPr>
        <p:spPr>
          <a:xfrm>
            <a:off x="457200" y="2057400"/>
            <a:ext cx="73152" cy="777240"/>
          </a:xfrm>
          <a:prstGeom prst="rect">
            <a:avLst/>
          </a:prstGeom>
          <a:solidFill>
            <a:srgbClr val="B31B1B"/>
          </a:solidFill>
          <a:ln/>
        </p:spPr>
        <p:txBody>
          <a:bodyPr/>
          <a:lstStyle/>
          <a:p>
            <a:endParaRPr lang="en-US"/>
          </a:p>
        </p:txBody>
      </p:sp>
      <p:sp>
        <p:nvSpPr>
          <p:cNvPr id="7" name="Text 5"/>
          <p:cNvSpPr/>
          <p:nvPr/>
        </p:nvSpPr>
        <p:spPr>
          <a:xfrm>
            <a:off x="621792" y="2130552"/>
            <a:ext cx="315468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Checking</a:t>
            </a:r>
            <a:endParaRPr lang="en-US" sz="1200" dirty="0"/>
          </a:p>
        </p:txBody>
      </p:sp>
      <p:sp>
        <p:nvSpPr>
          <p:cNvPr id="8" name="Text 6"/>
          <p:cNvSpPr/>
          <p:nvPr/>
        </p:nvSpPr>
        <p:spPr>
          <a:xfrm>
            <a:off x="621792" y="2377440"/>
            <a:ext cx="3154680" cy="4572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Clear Access · Everyday · Prime · Premier · Teen</a:t>
            </a:r>
            <a:endParaRPr lang="en-US" sz="900" dirty="0"/>
          </a:p>
        </p:txBody>
      </p:sp>
      <p:sp>
        <p:nvSpPr>
          <p:cNvPr id="9" name="Shape 7"/>
          <p:cNvSpPr/>
          <p:nvPr/>
        </p:nvSpPr>
        <p:spPr>
          <a:xfrm>
            <a:off x="3977640" y="2057400"/>
            <a:ext cx="3383280" cy="777240"/>
          </a:xfrm>
          <a:prstGeom prst="rect">
            <a:avLst/>
          </a:prstGeom>
          <a:solidFill>
            <a:srgbClr val="F7F4EE"/>
          </a:solidFill>
          <a:ln/>
        </p:spPr>
        <p:txBody>
          <a:bodyPr/>
          <a:lstStyle/>
          <a:p>
            <a:endParaRPr lang="en-US"/>
          </a:p>
        </p:txBody>
      </p:sp>
      <p:sp>
        <p:nvSpPr>
          <p:cNvPr id="10" name="Shape 8"/>
          <p:cNvSpPr/>
          <p:nvPr/>
        </p:nvSpPr>
        <p:spPr>
          <a:xfrm>
            <a:off x="3977640" y="2057400"/>
            <a:ext cx="73152" cy="777240"/>
          </a:xfrm>
          <a:prstGeom prst="rect">
            <a:avLst/>
          </a:prstGeom>
          <a:solidFill>
            <a:srgbClr val="B31B1B"/>
          </a:solidFill>
          <a:ln/>
        </p:spPr>
        <p:txBody>
          <a:bodyPr/>
          <a:lstStyle/>
          <a:p>
            <a:endParaRPr lang="en-US"/>
          </a:p>
        </p:txBody>
      </p:sp>
      <p:sp>
        <p:nvSpPr>
          <p:cNvPr id="11" name="Text 9"/>
          <p:cNvSpPr/>
          <p:nvPr/>
        </p:nvSpPr>
        <p:spPr>
          <a:xfrm>
            <a:off x="4142232" y="2130552"/>
            <a:ext cx="315468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Savings &amp; CDs</a:t>
            </a:r>
            <a:endParaRPr lang="en-US" sz="1200" dirty="0"/>
          </a:p>
        </p:txBody>
      </p:sp>
      <p:sp>
        <p:nvSpPr>
          <p:cNvPr id="12" name="Text 10"/>
          <p:cNvSpPr/>
          <p:nvPr/>
        </p:nvSpPr>
        <p:spPr>
          <a:xfrm>
            <a:off x="4142232" y="2377440"/>
            <a:ext cx="3154680" cy="4572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Way2Save · Platinum Savings · Kids · Standard CD</a:t>
            </a:r>
            <a:endParaRPr lang="en-US" sz="900" dirty="0"/>
          </a:p>
        </p:txBody>
      </p:sp>
      <p:sp>
        <p:nvSpPr>
          <p:cNvPr id="13" name="Shape 11"/>
          <p:cNvSpPr/>
          <p:nvPr/>
        </p:nvSpPr>
        <p:spPr>
          <a:xfrm>
            <a:off x="457200" y="2926080"/>
            <a:ext cx="3383280" cy="777240"/>
          </a:xfrm>
          <a:prstGeom prst="rect">
            <a:avLst/>
          </a:prstGeom>
          <a:solidFill>
            <a:srgbClr val="F7F4EE"/>
          </a:solidFill>
          <a:ln/>
        </p:spPr>
        <p:txBody>
          <a:bodyPr/>
          <a:lstStyle/>
          <a:p>
            <a:endParaRPr lang="en-US"/>
          </a:p>
        </p:txBody>
      </p:sp>
      <p:sp>
        <p:nvSpPr>
          <p:cNvPr id="14" name="Shape 12"/>
          <p:cNvSpPr/>
          <p:nvPr/>
        </p:nvSpPr>
        <p:spPr>
          <a:xfrm>
            <a:off x="457200" y="2926080"/>
            <a:ext cx="73152" cy="777240"/>
          </a:xfrm>
          <a:prstGeom prst="rect">
            <a:avLst/>
          </a:prstGeom>
          <a:solidFill>
            <a:srgbClr val="B31B1B"/>
          </a:solidFill>
          <a:ln/>
        </p:spPr>
        <p:txBody>
          <a:bodyPr/>
          <a:lstStyle/>
          <a:p>
            <a:endParaRPr lang="en-US"/>
          </a:p>
        </p:txBody>
      </p:sp>
      <p:sp>
        <p:nvSpPr>
          <p:cNvPr id="15" name="Text 13"/>
          <p:cNvSpPr/>
          <p:nvPr/>
        </p:nvSpPr>
        <p:spPr>
          <a:xfrm>
            <a:off x="621792" y="2999232"/>
            <a:ext cx="315468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Credit Cards</a:t>
            </a:r>
            <a:endParaRPr lang="en-US" sz="1200" dirty="0"/>
          </a:p>
        </p:txBody>
      </p:sp>
      <p:sp>
        <p:nvSpPr>
          <p:cNvPr id="16" name="Text 14"/>
          <p:cNvSpPr/>
          <p:nvPr/>
        </p:nvSpPr>
        <p:spPr>
          <a:xfrm>
            <a:off x="621792" y="3246120"/>
            <a:ext cx="3154680" cy="4572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Active Cash · Autograph · Autograph Journey · Reflect · Attune · One Key · Choice Privileges</a:t>
            </a:r>
            <a:endParaRPr lang="en-US" sz="900" dirty="0"/>
          </a:p>
        </p:txBody>
      </p:sp>
      <p:sp>
        <p:nvSpPr>
          <p:cNvPr id="17" name="Shape 15"/>
          <p:cNvSpPr/>
          <p:nvPr/>
        </p:nvSpPr>
        <p:spPr>
          <a:xfrm>
            <a:off x="3977640" y="2926080"/>
            <a:ext cx="3383280" cy="777240"/>
          </a:xfrm>
          <a:prstGeom prst="rect">
            <a:avLst/>
          </a:prstGeom>
          <a:solidFill>
            <a:srgbClr val="F7F4EE"/>
          </a:solidFill>
          <a:ln/>
        </p:spPr>
        <p:txBody>
          <a:bodyPr/>
          <a:lstStyle/>
          <a:p>
            <a:endParaRPr lang="en-US"/>
          </a:p>
        </p:txBody>
      </p:sp>
      <p:sp>
        <p:nvSpPr>
          <p:cNvPr id="18" name="Shape 16"/>
          <p:cNvSpPr/>
          <p:nvPr/>
        </p:nvSpPr>
        <p:spPr>
          <a:xfrm>
            <a:off x="3977640" y="2926080"/>
            <a:ext cx="73152" cy="777240"/>
          </a:xfrm>
          <a:prstGeom prst="rect">
            <a:avLst/>
          </a:prstGeom>
          <a:solidFill>
            <a:srgbClr val="B31B1B"/>
          </a:solidFill>
          <a:ln/>
        </p:spPr>
        <p:txBody>
          <a:bodyPr/>
          <a:lstStyle/>
          <a:p>
            <a:endParaRPr lang="en-US"/>
          </a:p>
        </p:txBody>
      </p:sp>
      <p:sp>
        <p:nvSpPr>
          <p:cNvPr id="19" name="Text 17"/>
          <p:cNvSpPr/>
          <p:nvPr/>
        </p:nvSpPr>
        <p:spPr>
          <a:xfrm>
            <a:off x="4142232" y="2999232"/>
            <a:ext cx="315468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Home Loans</a:t>
            </a:r>
            <a:endParaRPr lang="en-US" sz="1200" dirty="0"/>
          </a:p>
        </p:txBody>
      </p:sp>
      <p:sp>
        <p:nvSpPr>
          <p:cNvPr id="20" name="Text 18"/>
          <p:cNvSpPr/>
          <p:nvPr/>
        </p:nvSpPr>
        <p:spPr>
          <a:xfrm>
            <a:off x="4142232" y="3246120"/>
            <a:ext cx="3154680" cy="4572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Fixed · ARM · Jumbo · 3%-down · FHA · VA · Refinance</a:t>
            </a:r>
            <a:endParaRPr lang="en-US" sz="900" dirty="0"/>
          </a:p>
        </p:txBody>
      </p:sp>
      <p:sp>
        <p:nvSpPr>
          <p:cNvPr id="21" name="Shape 19"/>
          <p:cNvSpPr/>
          <p:nvPr/>
        </p:nvSpPr>
        <p:spPr>
          <a:xfrm>
            <a:off x="457200" y="3794760"/>
            <a:ext cx="3383280" cy="777240"/>
          </a:xfrm>
          <a:prstGeom prst="rect">
            <a:avLst/>
          </a:prstGeom>
          <a:solidFill>
            <a:srgbClr val="F7F4EE"/>
          </a:solidFill>
          <a:ln/>
        </p:spPr>
        <p:txBody>
          <a:bodyPr/>
          <a:lstStyle/>
          <a:p>
            <a:endParaRPr lang="en-US"/>
          </a:p>
        </p:txBody>
      </p:sp>
      <p:sp>
        <p:nvSpPr>
          <p:cNvPr id="22" name="Shape 20"/>
          <p:cNvSpPr/>
          <p:nvPr/>
        </p:nvSpPr>
        <p:spPr>
          <a:xfrm>
            <a:off x="457200" y="3794760"/>
            <a:ext cx="73152" cy="777240"/>
          </a:xfrm>
          <a:prstGeom prst="rect">
            <a:avLst/>
          </a:prstGeom>
          <a:solidFill>
            <a:srgbClr val="B31B1B"/>
          </a:solidFill>
          <a:ln/>
        </p:spPr>
        <p:txBody>
          <a:bodyPr/>
          <a:lstStyle/>
          <a:p>
            <a:endParaRPr lang="en-US"/>
          </a:p>
        </p:txBody>
      </p:sp>
      <p:sp>
        <p:nvSpPr>
          <p:cNvPr id="23" name="Text 21"/>
          <p:cNvSpPr/>
          <p:nvPr/>
        </p:nvSpPr>
        <p:spPr>
          <a:xfrm>
            <a:off x="621792" y="3867912"/>
            <a:ext cx="315468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Personal Loans</a:t>
            </a:r>
            <a:endParaRPr lang="en-US" sz="1200" dirty="0"/>
          </a:p>
        </p:txBody>
      </p:sp>
      <p:sp>
        <p:nvSpPr>
          <p:cNvPr id="24" name="Text 22"/>
          <p:cNvSpPr/>
          <p:nvPr/>
        </p:nvSpPr>
        <p:spPr>
          <a:xfrm>
            <a:off x="621792" y="4114800"/>
            <a:ext cx="3154680" cy="4572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$3K–$100K · 12–84 mo · 6.74–25.99% APR · existing-customer</a:t>
            </a:r>
            <a:endParaRPr lang="en-US" sz="900" dirty="0"/>
          </a:p>
        </p:txBody>
      </p:sp>
      <p:sp>
        <p:nvSpPr>
          <p:cNvPr id="25" name="Shape 23"/>
          <p:cNvSpPr/>
          <p:nvPr/>
        </p:nvSpPr>
        <p:spPr>
          <a:xfrm>
            <a:off x="3977640" y="3794760"/>
            <a:ext cx="3383280" cy="777240"/>
          </a:xfrm>
          <a:prstGeom prst="rect">
            <a:avLst/>
          </a:prstGeom>
          <a:solidFill>
            <a:srgbClr val="F7F4EE"/>
          </a:solidFill>
          <a:ln/>
        </p:spPr>
        <p:txBody>
          <a:bodyPr/>
          <a:lstStyle/>
          <a:p>
            <a:endParaRPr lang="en-US"/>
          </a:p>
        </p:txBody>
      </p:sp>
      <p:sp>
        <p:nvSpPr>
          <p:cNvPr id="26" name="Shape 24"/>
          <p:cNvSpPr/>
          <p:nvPr/>
        </p:nvSpPr>
        <p:spPr>
          <a:xfrm>
            <a:off x="3977640" y="3794760"/>
            <a:ext cx="73152" cy="777240"/>
          </a:xfrm>
          <a:prstGeom prst="rect">
            <a:avLst/>
          </a:prstGeom>
          <a:solidFill>
            <a:srgbClr val="B31B1B"/>
          </a:solidFill>
          <a:ln/>
        </p:spPr>
        <p:txBody>
          <a:bodyPr/>
          <a:lstStyle/>
          <a:p>
            <a:endParaRPr lang="en-US"/>
          </a:p>
        </p:txBody>
      </p:sp>
      <p:sp>
        <p:nvSpPr>
          <p:cNvPr id="27" name="Text 25"/>
          <p:cNvSpPr/>
          <p:nvPr/>
        </p:nvSpPr>
        <p:spPr>
          <a:xfrm>
            <a:off x="4142232" y="3867912"/>
            <a:ext cx="315468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Auto Loans</a:t>
            </a:r>
            <a:endParaRPr lang="en-US" sz="1200" dirty="0"/>
          </a:p>
        </p:txBody>
      </p:sp>
      <p:sp>
        <p:nvSpPr>
          <p:cNvPr id="28" name="Text 26"/>
          <p:cNvSpPr/>
          <p:nvPr/>
        </p:nvSpPr>
        <p:spPr>
          <a:xfrm>
            <a:off x="4142232" y="4114800"/>
            <a:ext cx="3154680" cy="4572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Indirect dealer network · servicing + payment management</a:t>
            </a:r>
            <a:endParaRPr lang="en-US" sz="900" dirty="0"/>
          </a:p>
        </p:txBody>
      </p:sp>
      <p:sp>
        <p:nvSpPr>
          <p:cNvPr id="29" name="Shape 27"/>
          <p:cNvSpPr/>
          <p:nvPr/>
        </p:nvSpPr>
        <p:spPr>
          <a:xfrm>
            <a:off x="457200" y="4663440"/>
            <a:ext cx="3383280" cy="777240"/>
          </a:xfrm>
          <a:prstGeom prst="rect">
            <a:avLst/>
          </a:prstGeom>
          <a:solidFill>
            <a:srgbClr val="F7F4EE"/>
          </a:solidFill>
          <a:ln/>
        </p:spPr>
        <p:txBody>
          <a:bodyPr/>
          <a:lstStyle/>
          <a:p>
            <a:endParaRPr lang="en-US"/>
          </a:p>
        </p:txBody>
      </p:sp>
      <p:sp>
        <p:nvSpPr>
          <p:cNvPr id="30" name="Shape 28"/>
          <p:cNvSpPr/>
          <p:nvPr/>
        </p:nvSpPr>
        <p:spPr>
          <a:xfrm>
            <a:off x="457200" y="4663440"/>
            <a:ext cx="73152" cy="777240"/>
          </a:xfrm>
          <a:prstGeom prst="rect">
            <a:avLst/>
          </a:prstGeom>
          <a:solidFill>
            <a:srgbClr val="B31B1B"/>
          </a:solidFill>
          <a:ln/>
        </p:spPr>
        <p:txBody>
          <a:bodyPr/>
          <a:lstStyle/>
          <a:p>
            <a:endParaRPr lang="en-US"/>
          </a:p>
        </p:txBody>
      </p:sp>
      <p:sp>
        <p:nvSpPr>
          <p:cNvPr id="31" name="Text 29"/>
          <p:cNvSpPr/>
          <p:nvPr/>
        </p:nvSpPr>
        <p:spPr>
          <a:xfrm>
            <a:off x="621792" y="4736592"/>
            <a:ext cx="315468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Premier</a:t>
            </a:r>
            <a:endParaRPr lang="en-US" sz="1200" dirty="0"/>
          </a:p>
        </p:txBody>
      </p:sp>
      <p:sp>
        <p:nvSpPr>
          <p:cNvPr id="32" name="Text 30"/>
          <p:cNvSpPr/>
          <p:nvPr/>
        </p:nvSpPr>
        <p:spPr>
          <a:xfrm>
            <a:off x="621792" y="4983480"/>
            <a:ext cx="3154680" cy="4572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$250K+ relationship tier · banker · LifeSync · Advisors integration</a:t>
            </a:r>
            <a:endParaRPr lang="en-US" sz="900" dirty="0"/>
          </a:p>
        </p:txBody>
      </p:sp>
      <p:sp>
        <p:nvSpPr>
          <p:cNvPr id="33" name="Shape 31"/>
          <p:cNvSpPr/>
          <p:nvPr/>
        </p:nvSpPr>
        <p:spPr>
          <a:xfrm>
            <a:off x="3977640" y="4663440"/>
            <a:ext cx="3383280" cy="777240"/>
          </a:xfrm>
          <a:prstGeom prst="rect">
            <a:avLst/>
          </a:prstGeom>
          <a:solidFill>
            <a:srgbClr val="F7F4EE"/>
          </a:solidFill>
          <a:ln/>
        </p:spPr>
        <p:txBody>
          <a:bodyPr/>
          <a:lstStyle/>
          <a:p>
            <a:endParaRPr lang="en-US"/>
          </a:p>
        </p:txBody>
      </p:sp>
      <p:sp>
        <p:nvSpPr>
          <p:cNvPr id="34" name="Shape 32"/>
          <p:cNvSpPr/>
          <p:nvPr/>
        </p:nvSpPr>
        <p:spPr>
          <a:xfrm>
            <a:off x="3977640" y="4663440"/>
            <a:ext cx="73152" cy="777240"/>
          </a:xfrm>
          <a:prstGeom prst="rect">
            <a:avLst/>
          </a:prstGeom>
          <a:solidFill>
            <a:srgbClr val="B31B1B"/>
          </a:solidFill>
          <a:ln/>
        </p:spPr>
        <p:txBody>
          <a:bodyPr/>
          <a:lstStyle/>
          <a:p>
            <a:endParaRPr lang="en-US"/>
          </a:p>
        </p:txBody>
      </p:sp>
      <p:sp>
        <p:nvSpPr>
          <p:cNvPr id="35" name="Text 33"/>
          <p:cNvSpPr/>
          <p:nvPr/>
        </p:nvSpPr>
        <p:spPr>
          <a:xfrm>
            <a:off x="4142232" y="4736592"/>
            <a:ext cx="3154680" cy="274320"/>
          </a:xfrm>
          <a:prstGeom prst="rect">
            <a:avLst/>
          </a:prstGeom>
          <a:noFill/>
          <a:ln/>
        </p:spPr>
        <p:txBody>
          <a:bodyPr wrap="square" lIns="0" tIns="0" rIns="0" bIns="0"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Education &amp; Tools</a:t>
            </a:r>
            <a:endParaRPr lang="en-US" sz="1200" dirty="0"/>
          </a:p>
        </p:txBody>
      </p:sp>
      <p:sp>
        <p:nvSpPr>
          <p:cNvPr id="36" name="Text 34"/>
          <p:cNvSpPr/>
          <p:nvPr/>
        </p:nvSpPr>
        <p:spPr>
          <a:xfrm>
            <a:off x="4142232" y="4983480"/>
            <a:ext cx="3154680" cy="4572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Calculators · Goals · My Money Map · FICO viewer · learning hubs</a:t>
            </a:r>
            <a:endParaRPr lang="en-US" sz="900" dirty="0"/>
          </a:p>
        </p:txBody>
      </p:sp>
      <p:sp>
        <p:nvSpPr>
          <p:cNvPr id="37" name="Text 35"/>
          <p:cNvSpPr/>
          <p:nvPr/>
        </p:nvSpPr>
        <p:spPr>
          <a:xfrm>
            <a:off x="7680960" y="1691640"/>
            <a:ext cx="4023360" cy="274320"/>
          </a:xfrm>
          <a:prstGeom prst="rect">
            <a:avLst/>
          </a:prstGeom>
          <a:noFill/>
          <a:ln/>
        </p:spPr>
        <p:txBody>
          <a:bodyPr wrap="square" rtlCol="0" anchor="ctr"/>
          <a:lstStyle/>
          <a:p>
            <a:pPr marL="0" indent="0">
              <a:buNone/>
            </a:pPr>
            <a:r>
              <a:rPr lang="en-US" sz="1100" b="1" kern="0" spc="300" dirty="0">
                <a:solidFill>
                  <a:srgbClr val="B31B1B"/>
                </a:solidFill>
                <a:latin typeface="Calibri" pitchFamily="34" charset="0"/>
                <a:ea typeface="Calibri" pitchFamily="34" charset="-122"/>
                <a:cs typeface="Calibri" pitchFamily="34" charset="-120"/>
              </a:rPr>
              <a:t>JOURNEY, EXPERIENCE &amp; AI SURFACES</a:t>
            </a:r>
            <a:endParaRPr lang="en-US" sz="1100" dirty="0"/>
          </a:p>
        </p:txBody>
      </p:sp>
      <p:sp>
        <p:nvSpPr>
          <p:cNvPr id="38" name="Shape 36"/>
          <p:cNvSpPr/>
          <p:nvPr/>
        </p:nvSpPr>
        <p:spPr>
          <a:xfrm>
            <a:off x="7680960" y="2057400"/>
            <a:ext cx="4023360" cy="502920"/>
          </a:xfrm>
          <a:prstGeom prst="rect">
            <a:avLst/>
          </a:prstGeom>
          <a:solidFill>
            <a:srgbClr val="EAE4D6"/>
          </a:solidFill>
          <a:ln/>
        </p:spPr>
        <p:txBody>
          <a:bodyPr/>
          <a:lstStyle/>
          <a:p>
            <a:endParaRPr lang="en-US"/>
          </a:p>
        </p:txBody>
      </p:sp>
      <p:sp>
        <p:nvSpPr>
          <p:cNvPr id="39" name="Text 37"/>
          <p:cNvSpPr/>
          <p:nvPr/>
        </p:nvSpPr>
        <p:spPr>
          <a:xfrm>
            <a:off x="7818120" y="2103120"/>
            <a:ext cx="3840480" cy="22860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Fargo® virtual assistant</a:t>
            </a:r>
            <a:endParaRPr lang="en-US" sz="1100" dirty="0"/>
          </a:p>
        </p:txBody>
      </p:sp>
      <p:sp>
        <p:nvSpPr>
          <p:cNvPr id="40" name="Text 38"/>
          <p:cNvSpPr/>
          <p:nvPr/>
        </p:nvSpPr>
        <p:spPr>
          <a:xfrm>
            <a:off x="7818120" y="2313432"/>
            <a:ext cx="3840480" cy="2286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Mobile-only · 1B+ interactions · EN + ES</a:t>
            </a:r>
            <a:endParaRPr lang="en-US" sz="900" dirty="0"/>
          </a:p>
        </p:txBody>
      </p:sp>
      <p:sp>
        <p:nvSpPr>
          <p:cNvPr id="41" name="Shape 39"/>
          <p:cNvSpPr/>
          <p:nvPr/>
        </p:nvSpPr>
        <p:spPr>
          <a:xfrm>
            <a:off x="7680960" y="2633472"/>
            <a:ext cx="4023360" cy="502920"/>
          </a:xfrm>
          <a:prstGeom prst="rect">
            <a:avLst/>
          </a:prstGeom>
          <a:solidFill>
            <a:srgbClr val="EAE4D6"/>
          </a:solidFill>
          <a:ln/>
        </p:spPr>
        <p:txBody>
          <a:bodyPr/>
          <a:lstStyle/>
          <a:p>
            <a:endParaRPr lang="en-US"/>
          </a:p>
        </p:txBody>
      </p:sp>
      <p:sp>
        <p:nvSpPr>
          <p:cNvPr id="42" name="Text 40"/>
          <p:cNvSpPr/>
          <p:nvPr/>
        </p:nvSpPr>
        <p:spPr>
          <a:xfrm>
            <a:off x="7818120" y="2679192"/>
            <a:ext cx="3840480" cy="22860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LifeSync®</a:t>
            </a:r>
            <a:endParaRPr lang="en-US" sz="1100" dirty="0"/>
          </a:p>
        </p:txBody>
      </p:sp>
      <p:sp>
        <p:nvSpPr>
          <p:cNvPr id="43" name="Text 41"/>
          <p:cNvSpPr/>
          <p:nvPr/>
        </p:nvSpPr>
        <p:spPr>
          <a:xfrm>
            <a:off x="7818120" y="2889504"/>
            <a:ext cx="3840480" cy="2286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Mobile-only · goal-based planning · 1M+ MAU at launch</a:t>
            </a:r>
            <a:endParaRPr lang="en-US" sz="900" dirty="0"/>
          </a:p>
        </p:txBody>
      </p:sp>
      <p:sp>
        <p:nvSpPr>
          <p:cNvPr id="44" name="Shape 42"/>
          <p:cNvSpPr/>
          <p:nvPr/>
        </p:nvSpPr>
        <p:spPr>
          <a:xfrm>
            <a:off x="7680960" y="3209544"/>
            <a:ext cx="4023360" cy="502920"/>
          </a:xfrm>
          <a:prstGeom prst="rect">
            <a:avLst/>
          </a:prstGeom>
          <a:solidFill>
            <a:srgbClr val="EAE4D6"/>
          </a:solidFill>
          <a:ln/>
        </p:spPr>
        <p:txBody>
          <a:bodyPr/>
          <a:lstStyle/>
          <a:p>
            <a:endParaRPr lang="en-US"/>
          </a:p>
        </p:txBody>
      </p:sp>
      <p:sp>
        <p:nvSpPr>
          <p:cNvPr id="45" name="Text 43"/>
          <p:cNvSpPr/>
          <p:nvPr/>
        </p:nvSpPr>
        <p:spPr>
          <a:xfrm>
            <a:off x="7818120" y="3255264"/>
            <a:ext cx="3840480" cy="22860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Premier (relationship tier)</a:t>
            </a:r>
            <a:endParaRPr lang="en-US" sz="1100" dirty="0"/>
          </a:p>
        </p:txBody>
      </p:sp>
      <p:sp>
        <p:nvSpPr>
          <p:cNvPr id="46" name="Text 44"/>
          <p:cNvSpPr/>
          <p:nvPr/>
        </p:nvSpPr>
        <p:spPr>
          <a:xfrm>
            <a:off x="7818120" y="3465576"/>
            <a:ext cx="3840480" cy="2286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Relaunched Oct 2025 with new benefits</a:t>
            </a:r>
            <a:endParaRPr lang="en-US" sz="900" dirty="0"/>
          </a:p>
        </p:txBody>
      </p:sp>
      <p:sp>
        <p:nvSpPr>
          <p:cNvPr id="47" name="Shape 45"/>
          <p:cNvSpPr/>
          <p:nvPr/>
        </p:nvSpPr>
        <p:spPr>
          <a:xfrm>
            <a:off x="7680960" y="3785616"/>
            <a:ext cx="4023360" cy="502920"/>
          </a:xfrm>
          <a:prstGeom prst="rect">
            <a:avLst/>
          </a:prstGeom>
          <a:solidFill>
            <a:srgbClr val="EAE4D6"/>
          </a:solidFill>
          <a:ln/>
        </p:spPr>
        <p:txBody>
          <a:bodyPr/>
          <a:lstStyle/>
          <a:p>
            <a:endParaRPr lang="en-US"/>
          </a:p>
        </p:txBody>
      </p:sp>
      <p:sp>
        <p:nvSpPr>
          <p:cNvPr id="48" name="Text 46"/>
          <p:cNvSpPr/>
          <p:nvPr/>
        </p:nvSpPr>
        <p:spPr>
          <a:xfrm>
            <a:off x="7818120" y="3831336"/>
            <a:ext cx="3840480" cy="22860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Security Center</a:t>
            </a:r>
            <a:endParaRPr lang="en-US" sz="1100" dirty="0"/>
          </a:p>
        </p:txBody>
      </p:sp>
      <p:sp>
        <p:nvSpPr>
          <p:cNvPr id="49" name="Text 47"/>
          <p:cNvSpPr/>
          <p:nvPr/>
        </p:nvSpPr>
        <p:spPr>
          <a:xfrm>
            <a:off x="7818120" y="4041648"/>
            <a:ext cx="3840480" cy="2286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Fraud · scams · alerts · in-app + web</a:t>
            </a:r>
            <a:endParaRPr lang="en-US" sz="900" dirty="0"/>
          </a:p>
        </p:txBody>
      </p:sp>
      <p:sp>
        <p:nvSpPr>
          <p:cNvPr id="50" name="Shape 48"/>
          <p:cNvSpPr/>
          <p:nvPr/>
        </p:nvSpPr>
        <p:spPr>
          <a:xfrm>
            <a:off x="7680960" y="4361688"/>
            <a:ext cx="4023360" cy="502920"/>
          </a:xfrm>
          <a:prstGeom prst="rect">
            <a:avLst/>
          </a:prstGeom>
          <a:solidFill>
            <a:srgbClr val="EAE4D6"/>
          </a:solidFill>
          <a:ln/>
        </p:spPr>
        <p:txBody>
          <a:bodyPr/>
          <a:lstStyle/>
          <a:p>
            <a:endParaRPr lang="en-US"/>
          </a:p>
        </p:txBody>
      </p:sp>
      <p:sp>
        <p:nvSpPr>
          <p:cNvPr id="51" name="Text 49"/>
          <p:cNvSpPr/>
          <p:nvPr/>
        </p:nvSpPr>
        <p:spPr>
          <a:xfrm>
            <a:off x="7818120" y="4407408"/>
            <a:ext cx="3840480" cy="22860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Financial Health &amp; Education</a:t>
            </a:r>
            <a:endParaRPr lang="en-US" sz="1100" dirty="0"/>
          </a:p>
        </p:txBody>
      </p:sp>
      <p:sp>
        <p:nvSpPr>
          <p:cNvPr id="52" name="Text 50"/>
          <p:cNvSpPr/>
          <p:nvPr/>
        </p:nvSpPr>
        <p:spPr>
          <a:xfrm>
            <a:off x="7818120" y="4617720"/>
            <a:ext cx="3840480" cy="2286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Tools, hubs, financial goals</a:t>
            </a:r>
            <a:endParaRPr lang="en-US" sz="900" dirty="0"/>
          </a:p>
        </p:txBody>
      </p:sp>
      <p:sp>
        <p:nvSpPr>
          <p:cNvPr id="53" name="Shape 51"/>
          <p:cNvSpPr/>
          <p:nvPr/>
        </p:nvSpPr>
        <p:spPr>
          <a:xfrm>
            <a:off x="7680960" y="4937760"/>
            <a:ext cx="4023360" cy="502920"/>
          </a:xfrm>
          <a:prstGeom prst="rect">
            <a:avLst/>
          </a:prstGeom>
          <a:solidFill>
            <a:srgbClr val="EAE4D6"/>
          </a:solidFill>
          <a:ln/>
        </p:spPr>
        <p:txBody>
          <a:bodyPr/>
          <a:lstStyle/>
          <a:p>
            <a:endParaRPr lang="en-US"/>
          </a:p>
        </p:txBody>
      </p:sp>
      <p:sp>
        <p:nvSpPr>
          <p:cNvPr id="54" name="Text 52"/>
          <p:cNvSpPr/>
          <p:nvPr/>
        </p:nvSpPr>
        <p:spPr>
          <a:xfrm>
            <a:off x="7818120" y="4983480"/>
            <a:ext cx="3840480" cy="228600"/>
          </a:xfrm>
          <a:prstGeom prst="rect">
            <a:avLst/>
          </a:prstGeom>
          <a:noFill/>
          <a:ln/>
        </p:spPr>
        <p:txBody>
          <a:bodyPr wrap="square" lIns="0" tIns="0" rIns="0" bIns="0"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Online &amp; Mobile Banking</a:t>
            </a:r>
            <a:endParaRPr lang="en-US" sz="1100" dirty="0"/>
          </a:p>
        </p:txBody>
      </p:sp>
      <p:sp>
        <p:nvSpPr>
          <p:cNvPr id="55" name="Text 53"/>
          <p:cNvSpPr/>
          <p:nvPr/>
        </p:nvSpPr>
        <p:spPr>
          <a:xfrm>
            <a:off x="7818120" y="5193792"/>
            <a:ext cx="3840480" cy="22860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Online · WF Mobile app · Zelle · Bill Pay</a:t>
            </a:r>
            <a:endParaRPr lang="en-US" sz="900" dirty="0"/>
          </a:p>
        </p:txBody>
      </p:sp>
      <p:sp>
        <p:nvSpPr>
          <p:cNvPr id="56" name="Shape 54"/>
          <p:cNvSpPr/>
          <p:nvPr/>
        </p:nvSpPr>
        <p:spPr>
          <a:xfrm>
            <a:off x="457200" y="5943600"/>
            <a:ext cx="11247120" cy="365760"/>
          </a:xfrm>
          <a:prstGeom prst="rect">
            <a:avLst/>
          </a:prstGeom>
          <a:solidFill>
            <a:srgbClr val="1A1A1A"/>
          </a:solidFill>
          <a:ln/>
        </p:spPr>
        <p:txBody>
          <a:bodyPr/>
          <a:lstStyle/>
          <a:p>
            <a:endParaRPr lang="en-US"/>
          </a:p>
        </p:txBody>
      </p:sp>
      <p:sp>
        <p:nvSpPr>
          <p:cNvPr id="57" name="Text 55"/>
          <p:cNvSpPr/>
          <p:nvPr/>
        </p:nvSpPr>
        <p:spPr>
          <a:xfrm>
            <a:off x="594360" y="5943600"/>
            <a:ext cx="10972800" cy="365760"/>
          </a:xfrm>
          <a:prstGeom prst="rect">
            <a:avLst/>
          </a:prstGeom>
          <a:noFill/>
          <a:ln/>
        </p:spPr>
        <p:txBody>
          <a:bodyPr wrap="square" lIns="0" tIns="0" rIns="0" bIns="0" rtlCol="0" anchor="ctr"/>
          <a:lstStyle/>
          <a:p>
            <a:pPr marL="0" indent="0">
              <a:buNone/>
            </a:pPr>
            <a:r>
              <a:rPr lang="en-US" sz="900" dirty="0">
                <a:solidFill>
                  <a:srgbClr val="C99A2E"/>
                </a:solidFill>
                <a:latin typeface="Calibri" pitchFamily="34" charset="0"/>
                <a:ea typeface="Calibri" pitchFamily="34" charset="-122"/>
                <a:cs typeface="Calibri" pitchFamily="34" charset="-120"/>
              </a:rPr>
              <a:t>OUT OF SCOPE: Small Business · Investing &amp; Wealth Management · Commercial · Corporate &amp; Investment Banking · Discontinued products (HELOC, Bilt, Private Student Loans)</a:t>
            </a:r>
            <a:endParaRPr lang="en-US" sz="900" dirty="0"/>
          </a:p>
        </p:txBody>
      </p:sp>
      <p:sp>
        <p:nvSpPr>
          <p:cNvPr id="58" name="Text 56"/>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59" name="Text 57"/>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B31B1B"/>
                </a:solidFill>
                <a:latin typeface="Calibri" pitchFamily="34" charset="0"/>
                <a:ea typeface="Calibri" pitchFamily="34" charset="-122"/>
                <a:cs typeface="Calibri" pitchFamily="34" charset="-120"/>
              </a:rPr>
              <a:t>SHORT-TERM USE CASE 01</a:t>
            </a:r>
            <a:endParaRPr lang="en-US" sz="1000" dirty="0"/>
          </a:p>
        </p:txBody>
      </p:sp>
      <p:sp>
        <p:nvSpPr>
          <p:cNvPr id="3" name="Shape 1"/>
          <p:cNvSpPr/>
          <p:nvPr/>
        </p:nvSpPr>
        <p:spPr>
          <a:xfrm>
            <a:off x="10698480" y="320040"/>
            <a:ext cx="1005840" cy="502920"/>
          </a:xfrm>
          <a:prstGeom prst="rect">
            <a:avLst/>
          </a:prstGeom>
          <a:solidFill>
            <a:srgbClr val="B31B1B"/>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S1</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AI-Powered Smart Search &amp; Intent Navigation</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Customers hunt through menu trees in the Wells Fargo Mobile app and Wells Fargo Online to complete simple tasks. Top journeys — check balance, move money, find a recent charge — should be one step, not five.</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B31B1B"/>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Replace top-level navigation with an intent-based command bar on every mobile and web screen. Customer types or speaks intent in natural language; AI parses, executes simple actions in-place, or deep-links to the right product page.</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B31B1B"/>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B31B1B"/>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Surfaces: Wells Fargo Mobile app · Wells Fargo Online · Fargo (extends today's interaction model into navigation). Products touched: every Personal-tab product page reachable from search — Checking, Savings, Credit Cards, Home Loans, Personal Loans, Premier.</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B31B1B"/>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30–50% reduction in time-to-task on top journeys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+5–8 pt mobile NPS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15–20% deflection of routine support contacts</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B31B1B"/>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6–9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B31B1B"/>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Low–Medium</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LLM intent classifier (Gemini Flash)</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Vector search over product/page catalog</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Deep-link routing layer</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Voice input (extends Fargo's voice stack)</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PII-tokenization layer (existing)</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A/B testing infrastructure</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B31B1B"/>
                </a:solidFill>
                <a:latin typeface="Calibri" pitchFamily="34" charset="0"/>
                <a:ea typeface="Calibri" pitchFamily="34" charset="-122"/>
                <a:cs typeface="Calibri" pitchFamily="34" charset="-120"/>
              </a:rPr>
              <a:t>SHORT-TERM USE CASE 02</a:t>
            </a:r>
            <a:endParaRPr lang="en-US" sz="1000" dirty="0"/>
          </a:p>
        </p:txBody>
      </p:sp>
      <p:sp>
        <p:nvSpPr>
          <p:cNvPr id="3" name="Shape 1"/>
          <p:cNvSpPr/>
          <p:nvPr/>
        </p:nvSpPr>
        <p:spPr>
          <a:xfrm>
            <a:off x="10698480" y="320040"/>
            <a:ext cx="1005840" cy="502920"/>
          </a:xfrm>
          <a:prstGeom prst="rect">
            <a:avLst/>
          </a:prstGeom>
          <a:solidFill>
            <a:srgbClr val="B31B1B"/>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S2</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Personalized Adaptive Mobile Dashboard</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Today every Wells customer sees the same mobile home screen — same tiles, same order. A 28-year-old paying with Apple Pay and a 62-year-old reviewing Social Security deposits see identical UX. Engagement plateaus.</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B31B1B"/>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AI-curated home screen inside the Wells Fargo Mobile app that surfaces what each customer needs that day — based on transaction patterns, calendar, recent activity, and life-stage signals. Active days prioritize; quiet days minimize.</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B31B1B"/>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B31B1B"/>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 Wells Fargo Mobile app home screen (post-login). Products touched: Checking (account tiles), Savings &amp; CDs (goal nudges), Credit Cards (rewards balance), Home Loans (application status). Integrates with LifeSync feed for life-event signals.</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B31B1B"/>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15–25% lift in mobile DAU</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10–15% increase in cross-product engagement</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+4–6 pt NPS on tailored cohorts</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B31B1B"/>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9–12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B31B1B"/>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Medium</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Real-time feature store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Pega Customer Decision Hub + GenAI</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BigQuery / Snowflake analytics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Multi-armed bandit testing</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iOS / Android feature flags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Customer 360 retrieval layer</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B31B1B"/>
                </a:solidFill>
                <a:latin typeface="Calibri" pitchFamily="34" charset="0"/>
                <a:ea typeface="Calibri" pitchFamily="34" charset="-122"/>
                <a:cs typeface="Calibri" pitchFamily="34" charset="-120"/>
              </a:rPr>
              <a:t>SHORT-TERM USE CASE 03</a:t>
            </a:r>
            <a:endParaRPr lang="en-US" sz="1000" dirty="0"/>
          </a:p>
        </p:txBody>
      </p:sp>
      <p:sp>
        <p:nvSpPr>
          <p:cNvPr id="3" name="Shape 1"/>
          <p:cNvSpPr/>
          <p:nvPr/>
        </p:nvSpPr>
        <p:spPr>
          <a:xfrm>
            <a:off x="10698480" y="320040"/>
            <a:ext cx="1005840" cy="502920"/>
          </a:xfrm>
          <a:prstGeom prst="rect">
            <a:avLst/>
          </a:prstGeom>
          <a:solidFill>
            <a:srgbClr val="B31B1B"/>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S3</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AI Spending Insights &amp; Cash-Flow Forecasting</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Customers don't have a forward view of cash flow. ~50M Americans hit an overdraft annually, miss bill due dates, and under-save. The bank that helps customers see cash flow forward wins primary-bank loyalty.</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B31B1B"/>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Extend the existing Budget Watch / My Money Map experience with AI cash-flow forecasting 30/60/90 days out using transformer time-series models. Identify upcoming squeeze points, recommend actions, surface in Fargo and on the mobile dashboard.</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B31B1B"/>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B31B1B"/>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Surfaces: My Money Map / Budget Watch (Personal-tab existing tool), Wells Fargo Mobile app, Fargo, LifeSync. Products touched: Everyday &amp; Prime Checking, Way2Save Savings (auto-transfer recommendations), Active Cash &amp; Reflect credit cards (balance management).</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B31B1B"/>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10–20% overdraft reduction (NPS offset)</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+6–8 pt NPS on engaged cohorts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15–25% lift in Way2Save transfers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Churn defense vs. neobanks</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B31B1B"/>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9–12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B31B1B"/>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Medium</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Transformer time-series models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Real-time transaction stream (Kafka)</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Pega Decision Hub for nudges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GenAI for natural-language insights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BigQuery / Snowflake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Vertex AI inference</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B31B1B"/>
                </a:solidFill>
                <a:latin typeface="Calibri" pitchFamily="34" charset="0"/>
                <a:ea typeface="Calibri" pitchFamily="34" charset="-122"/>
                <a:cs typeface="Calibri" pitchFamily="34" charset="-120"/>
              </a:rPr>
              <a:t>SHORT-TERM USE CASE 05</a:t>
            </a:r>
            <a:endParaRPr lang="en-US" sz="1000" dirty="0"/>
          </a:p>
        </p:txBody>
      </p:sp>
      <p:sp>
        <p:nvSpPr>
          <p:cNvPr id="3" name="Shape 1"/>
          <p:cNvSpPr/>
          <p:nvPr/>
        </p:nvSpPr>
        <p:spPr>
          <a:xfrm>
            <a:off x="10698480" y="320040"/>
            <a:ext cx="1005840" cy="502920"/>
          </a:xfrm>
          <a:prstGeom prst="rect">
            <a:avLst/>
          </a:prstGeom>
          <a:solidFill>
            <a:srgbClr val="B31B1B"/>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S5</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Smart Bill Pay &amp; Subscription Manager</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Customers don't know which subscriptions are auto-renewing, which bills are upcoming, where they're double-paying. Rocket Money has built a multi-hundred-million-dollar business on this gap — built on customer pain points that should be solved inside the Wells Fargo Mobile app.</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B31B1B"/>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AI detects recurring charges, displays subscriptions in one mobile view inside Bill Pay, predicts upcoming bills, flags duplicates and dormant subs, lets customer cancel in-app with one tap. Make PFM useful inside Wells.</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B31B1B"/>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B31B1B"/>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Surfaces: Bill Pay (Wells Fargo Online + Mobile), Zelle, My Money Map, Wells Fargo Mobile app. Products touched: all 9 consumer credit cards (subscription routing), Active Cash + Autograph (rewards routing), Everyday &amp; Prime Checking (recurring debit detection).</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B31B1B"/>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$50–100M revenue (subscription routing to Wells cards)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+10–15 NPS on PFM users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Churn defense vs. neobanks/fintechs</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B31B1B"/>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6–9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B31B1B"/>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Low–Medium</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Merchant categorization ML</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Recurring-charge pattern detection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GenAI for natural-language summaries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Pega for one-tap cancel orchestration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Real-time transaction stream</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API partnerships for cancellations</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B31B1B"/>
                </a:solidFill>
                <a:latin typeface="Calibri" pitchFamily="34" charset="0"/>
                <a:ea typeface="Calibri" pitchFamily="34" charset="-122"/>
                <a:cs typeface="Calibri" pitchFamily="34" charset="-120"/>
              </a:rPr>
              <a:t>SHORT-TERM USE CASE 06</a:t>
            </a:r>
            <a:endParaRPr lang="en-US" sz="1000" dirty="0"/>
          </a:p>
        </p:txBody>
      </p:sp>
      <p:sp>
        <p:nvSpPr>
          <p:cNvPr id="3" name="Shape 1"/>
          <p:cNvSpPr/>
          <p:nvPr/>
        </p:nvSpPr>
        <p:spPr>
          <a:xfrm>
            <a:off x="10698480" y="320040"/>
            <a:ext cx="1005840" cy="502920"/>
          </a:xfrm>
          <a:prstGeom prst="rect">
            <a:avLst/>
          </a:prstGeom>
          <a:solidFill>
            <a:srgbClr val="B31B1B"/>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S6</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Hyper-Personalized In-App Offers &amp; Next-Best-Action</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Accenture: banks lose up to 20% of potential primary-customer revenue to insufficient personalization. One-size-fits-all in-app offers ignore rich signals in each customer's mobile activity, product mix, and life events.</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B31B1B"/>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GenAI-augmented Customer Decision Hub generates copy variants and personalizes hero offers across the Wells Fargo Mobile app, Wells Fargo Online, and email. Amplifies the existing Pega investment (6B decisions/month) with GenAI creative and decisioning.</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B31B1B"/>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B31B1B"/>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Surfaces: Wells Fargo Mobile app, Wells Fargo Online dashboard, email. Products touched: credit card upgrade offers (Active Cash → Autograph → Autograph Journey), savings (Way2Save → Platinum Savings), checking tier upgrades (Everyday → Prime → Premier), Personal Loan pre-approval, mortgage refinance.</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B31B1B"/>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2–7% revenue uplift; 1–2% profit margin uplift (McKinsey)</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'Relationship multiplier' (Accenture): up to 20% of primary-customer revenue</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$300–600M annual run-rate at Wells scale</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B31B1B"/>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6–9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B31B1B"/>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Low–Medium</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Pega Customer Decision Hub (existing)</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Vertex AI GenAI content generation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Adobe / Salesforce Marketing Cloud</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Snowflake / BigQuery</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Real-time feature store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Brand + compliance guardrails</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B31B1B"/>
                </a:solidFill>
                <a:latin typeface="Calibri" pitchFamily="34" charset="0"/>
                <a:ea typeface="Calibri" pitchFamily="34" charset="-122"/>
                <a:cs typeface="Calibri" pitchFamily="34" charset="-120"/>
              </a:rPr>
              <a:t>SHORT-TERM USE CASE 07</a:t>
            </a:r>
            <a:endParaRPr lang="en-US" sz="1000" dirty="0"/>
          </a:p>
        </p:txBody>
      </p:sp>
      <p:sp>
        <p:nvSpPr>
          <p:cNvPr id="3" name="Shape 1"/>
          <p:cNvSpPr/>
          <p:nvPr/>
        </p:nvSpPr>
        <p:spPr>
          <a:xfrm>
            <a:off x="10698480" y="320040"/>
            <a:ext cx="1005840" cy="502920"/>
          </a:xfrm>
          <a:prstGeom prst="rect">
            <a:avLst/>
          </a:prstGeom>
          <a:solidFill>
            <a:srgbClr val="B31B1B"/>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S7</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AI Self-Serve Dispute &amp; Issue Resolution</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Customer wants to dispute a charge on their Wells card or checking account. Today: navigate to support, fill a 11-field form, wait 4–7 days. Many give up and call, inflating contact center cost. Reg E and CFPB scrutiny make this high-stakes work.</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B31B1B"/>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AI-powered in-app dispute flow inside the Wells Fargo Mobile app. Customer says 'I don't recognize this'; AI classifies the dispute type, pulls merchant context, decides on provisional credit per policy, drafts the dispute, submits, keeps customer informed.</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B31B1B"/>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B31B1B"/>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Surfaces: Wells Fargo Mobile app (Help · Disputes), Wells Fargo Online, Security Center · Report Fraud, Fargo. Products touched: every Wells card (debit + 9 consumer credit cards), Everyday/Prime/Premier Checking, Bill Pay transactions, Zelle scams.</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B31B1B"/>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50–70% reduction in dispute handling cost</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+5–10 pt NPS on dispute resolution</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$80–150M annual run-rate</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B31B1B"/>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9–12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B31B1B"/>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Medium</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GenAI complaint/dispute classifier</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Merchant DB + transaction graph</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Pega case management</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Fraud signal integration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Reg E compliance pipeline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Provisional-credit auto-policy engine</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B31B1B"/>
                </a:solidFill>
                <a:latin typeface="Calibri" pitchFamily="34" charset="0"/>
                <a:ea typeface="Calibri" pitchFamily="34" charset="-122"/>
                <a:cs typeface="Calibri" pitchFamily="34" charset="-120"/>
              </a:rPr>
              <a:t>SHORT-TERM USE CASE 08</a:t>
            </a:r>
            <a:endParaRPr lang="en-US" sz="1000" dirty="0"/>
          </a:p>
        </p:txBody>
      </p:sp>
      <p:sp>
        <p:nvSpPr>
          <p:cNvPr id="3" name="Shape 1"/>
          <p:cNvSpPr/>
          <p:nvPr/>
        </p:nvSpPr>
        <p:spPr>
          <a:xfrm>
            <a:off x="10698480" y="320040"/>
            <a:ext cx="1005840" cy="502920"/>
          </a:xfrm>
          <a:prstGeom prst="rect">
            <a:avLst/>
          </a:prstGeom>
          <a:solidFill>
            <a:srgbClr val="B31B1B"/>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S8</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Smart Push Notifications &amp; Alert Optimization</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Wells Fargo Mobile push notifications are either too few (customer misses important things) or too many (notification fatigue, customer opts out). Wells' push opt-out rate is materially higher than peer-best.</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B31B1B"/>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AI decides the right notification at the right time for each customer using contextual-bandits reinforcement learning. The model learns each customer's tolerance, preferences, and prior-response patterns inside the Alerts surface.</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B31B1B"/>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B31B1B"/>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 Wells Fargo Mobile app Alerts (Personal-tab existing feature at /online-banking/alerts/). Products touched: all checking/savings (balance, deposit, low-balance alerts), all credit cards (transaction, fraud, payment-due alerts), Bill Pay (upcoming bills), Personal Loans (payment reminders).</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B31B1B"/>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25–40% lift in notification engagement</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10–15% increase in mobile DAU</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$50–100M run-rate from improved cross-sell uptake</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B31B1B"/>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6–9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B31B1B"/>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Low</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Reinforcement learning (contextual bandits)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In-app + APNs/FCM push integration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Pega CDH for next-notification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Snowflake / BigQuery engagement data</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Real-time feature store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Opt-in / consent management</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B31B1B"/>
                </a:solidFill>
                <a:latin typeface="Calibri" pitchFamily="34" charset="0"/>
                <a:ea typeface="Calibri" pitchFamily="34" charset="-122"/>
                <a:cs typeface="Calibri" pitchFamily="34" charset="-120"/>
              </a:rPr>
              <a:t>SHORT-TERM USE CASE 09</a:t>
            </a:r>
            <a:endParaRPr lang="en-US" sz="1000" dirty="0"/>
          </a:p>
        </p:txBody>
      </p:sp>
      <p:sp>
        <p:nvSpPr>
          <p:cNvPr id="3" name="Shape 1"/>
          <p:cNvSpPr/>
          <p:nvPr/>
        </p:nvSpPr>
        <p:spPr>
          <a:xfrm>
            <a:off x="10698480" y="320040"/>
            <a:ext cx="1005840" cy="502920"/>
          </a:xfrm>
          <a:prstGeom prst="rect">
            <a:avLst/>
          </a:prstGeom>
          <a:solidFill>
            <a:srgbClr val="B31B1B"/>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S9</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AI-Enhanced Mobile Check Deposit</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Mobile check deposit in the Wells Fargo Mobile app fails for blurry images, misaligned checks, or illegible handwriting. Failed deposits → branch visits → defeating the digital-channel investment. Fraud is also concentrated here.</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B31B1B"/>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On-device computer vision pre-validates image quality with real-time guidance ('move closer', 'better light needed'). Server-side adds risk scoring on the check itself and customer's behavior pattern. Higher acceptance with lower fraud.</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B31B1B"/>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B31B1B"/>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 Wells Fargo Mobile app Mobile Deposit feature (Personal-tab feature). Products touched: Everyday/Prime/Premier Checking (deposit destination), Way2Save Savings (deposit destination), Clear Access Banking (teen segment).</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B31B1B"/>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30–40% reduction in failed deposits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25% reduction in mobile-deposit fraud</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+3–5 pt NPS on the feature</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B31B1B"/>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9–12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B31B1B"/>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Medium</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On-device CV (TensorFlow Lite)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Server-side check OCR + verification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Risk-scoring ML on check + behavior</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Real-time fraud signals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Image-quality feedback UX</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Existing Check 21 processing</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C99A2E"/>
                </a:solidFill>
                <a:latin typeface="Calibri" pitchFamily="34" charset="0"/>
                <a:ea typeface="Calibri" pitchFamily="34" charset="-122"/>
                <a:cs typeface="Calibri" pitchFamily="34" charset="-120"/>
              </a:rPr>
              <a:t>LONG-TERM USE CASE 01</a:t>
            </a:r>
            <a:endParaRPr lang="en-US" sz="1000" dirty="0"/>
          </a:p>
        </p:txBody>
      </p:sp>
      <p:sp>
        <p:nvSpPr>
          <p:cNvPr id="3" name="Shape 1"/>
          <p:cNvSpPr/>
          <p:nvPr/>
        </p:nvSpPr>
        <p:spPr>
          <a:xfrm>
            <a:off x="10698480" y="320040"/>
            <a:ext cx="1005840" cy="502920"/>
          </a:xfrm>
          <a:prstGeom prst="rect">
            <a:avLst/>
          </a:prstGeom>
          <a:solidFill>
            <a:srgbClr val="C99A2E"/>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L1</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AI-Native Mobile Banking — Conversational Primary Surface</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Today's Wells Fargo Mobile app is fundamentally 2010s design — buttons, tabs, menus. Customers under 35 expect a chat/agent paradigm. The bank that delivers it first wins the next decade of primary-bank wallet share.</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Evolve Fargo from a sidecar assistant into the primary interface of the Wells Fargo Mobile app — conversational, proactive, multi-turn task execution. ~70% of routine journeys move from tap to talk.</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C99A2E"/>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C99A2E"/>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 Wells Fargo Mobile app (primary interface itself), Fargo expanded scope. Products touched: every Personal-tab product becomes addressable in conversation — open a Way2Save, request Active Cash credit line increase, dispute a charge, pay a bill, book a Premier banker.</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C99A2E"/>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25–40% improvement in routine task completion</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40%+ contact-center deflection</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Mobile NPS leadership; primary-bank share gain</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C99A2E"/>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24–36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C99A2E"/>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Very High</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LLM intent + execution (Gemini Enterprise)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Multi-agent LangGraph orchestration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A2A + MCP agent protocols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Pega for deterministic workflows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Full control plane (HITL, audit, drift)</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On-device + cloud hybrid inference</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C99A2E"/>
                </a:solidFill>
                <a:latin typeface="Calibri" pitchFamily="34" charset="0"/>
                <a:ea typeface="Calibri" pitchFamily="34" charset="-122"/>
                <a:cs typeface="Calibri" pitchFamily="34" charset="-120"/>
              </a:rPr>
              <a:t>LONG-TERM USE CASE 02</a:t>
            </a:r>
            <a:endParaRPr lang="en-US" sz="1000" dirty="0"/>
          </a:p>
        </p:txBody>
      </p:sp>
      <p:sp>
        <p:nvSpPr>
          <p:cNvPr id="3" name="Shape 1"/>
          <p:cNvSpPr/>
          <p:nvPr/>
        </p:nvSpPr>
        <p:spPr>
          <a:xfrm>
            <a:off x="10698480" y="320040"/>
            <a:ext cx="1005840" cy="502920"/>
          </a:xfrm>
          <a:prstGeom prst="rect">
            <a:avLst/>
          </a:prstGeom>
          <a:solidFill>
            <a:srgbClr val="C99A2E"/>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L2</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Predictive Life-Event Banking via LifeSync</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Major life events (home purchase, child, college, retirement) drive most banking decisions — but customers shop while we wait. LifeSync today is a planning tool; tomorrow it should be the proactive engagement engine.</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Extend LifeSync from goal-setting to event detection. Bank anticipates life events via transaction signals + external data, then proactively configures product mix, advisor introductions, and protection — surfaced in the mobile app at the right moment.</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C99A2E"/>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C99A2E"/>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 LifeSync (existing Personal-tab journey page at /mobile-online-banking/lifesync/), Wells Fargo Mobile app feed. Products touched: Home Loans (Fixed/ARM/Jumbo/FHA/VA), Personal Loans, Way2Save Savings (529 sub-accounts), Premier Checking (mass-affluent), Credit Cards (life-stage targeting).</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C99A2E"/>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10–20% revenue uplift on covered cohorts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Deeper share-of-wallet on primary customers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Higher NPS among major-life-event segments</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C99A2E"/>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18–30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C99A2E"/>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High</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Real-time transaction streaming (Kafka + Flink)</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Event-driven feature store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GenAI offer personalization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Knowledge graph of life-event signals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LifeSync platform as foundation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CFPB fair-lending + UDAAP controls</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C99A2E"/>
                </a:solidFill>
                <a:latin typeface="Calibri" pitchFamily="34" charset="0"/>
                <a:ea typeface="Calibri" pitchFamily="34" charset="-122"/>
                <a:cs typeface="Calibri" pitchFamily="34" charset="-120"/>
              </a:rPr>
              <a:t>LONG-TERM USE CASE 03</a:t>
            </a:r>
            <a:endParaRPr lang="en-US" sz="1000" dirty="0"/>
          </a:p>
        </p:txBody>
      </p:sp>
      <p:sp>
        <p:nvSpPr>
          <p:cNvPr id="3" name="Shape 1"/>
          <p:cNvSpPr/>
          <p:nvPr/>
        </p:nvSpPr>
        <p:spPr>
          <a:xfrm>
            <a:off x="10698480" y="320040"/>
            <a:ext cx="1005840" cy="502920"/>
          </a:xfrm>
          <a:prstGeom prst="rect">
            <a:avLst/>
          </a:prstGeom>
          <a:solidFill>
            <a:srgbClr val="C99A2E"/>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L3</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AI-Native Digital Architecture — Composable Banking OS</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Pilots stall at scale because banks lack a unified semantic data fabric, governed orchestration, and bi-directional integration into cores. Without this, agents hallucinate against fragmented data and cannot take action safely.</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Four-layer Banking OS supporting every Personal-tab use case: Semantic Fabric (Customer 360 + knowledge graph), Process Fabric (agent runtime + deterministic workflows), Integration Fabric (event mesh + APIs), Control Plane (governance, registry, explainability).</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C99A2E"/>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C99A2E"/>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 foundational — supports every product/page on the RETAIL BANKING. Enables agents to operate safely across Checking, Savings, Credit Cards, Home Loans, Personal Loans, Auto, Premier, Education &amp; Tools. Pre-requisite for L1, L4, L6, L9.</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C99A2E"/>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30–50% reduction in IT change cost</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2–3x faster product cycles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Foundational enabler for ALL other L-series use cases</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C99A2E"/>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Foundational (multi-year)</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C99A2E"/>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Highest</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Kafka / Confluent event mesh</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GraphQL + gRPC API gateway</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Service mesh (Istio)</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MCP (Anthropic) + A2A (Google) protocols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Model registry + observability stack</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Vector store (Vertex AI / Pinecone)</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C99A2E"/>
                </a:solidFill>
                <a:latin typeface="Calibri" pitchFamily="34" charset="0"/>
                <a:ea typeface="Calibri" pitchFamily="34" charset="-122"/>
                <a:cs typeface="Calibri" pitchFamily="34" charset="-120"/>
              </a:rPr>
              <a:t>LONG-TERM USE CASE 04</a:t>
            </a:r>
            <a:endParaRPr lang="en-US" sz="1000" dirty="0"/>
          </a:p>
        </p:txBody>
      </p:sp>
      <p:sp>
        <p:nvSpPr>
          <p:cNvPr id="3" name="Shape 1"/>
          <p:cNvSpPr/>
          <p:nvPr/>
        </p:nvSpPr>
        <p:spPr>
          <a:xfrm>
            <a:off x="10698480" y="320040"/>
            <a:ext cx="1005840" cy="502920"/>
          </a:xfrm>
          <a:prstGeom prst="rect">
            <a:avLst/>
          </a:prstGeom>
          <a:solidFill>
            <a:srgbClr val="C99A2E"/>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L4</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Real-Time AI Lending in Mobile &amp; Web</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Today, customers leave Wells' digital surface to compare credit. Personal Loan rate-checker exists but credit cards and mortgages still require multi-day decisioning. We lose the moment of decision to fintechs and competitors.</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Real-time, in-app credit decisioning across the full Personal-tab lending lineup using Wells' LIFE explainable AI + alternative data. Mortgage pre-approval in minutes, credit card limit increase in seconds, Personal Loan funded same-day (already true for 98%).</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C99A2E"/>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C99A2E"/>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Surfaces: Wells Fargo Mobile app, Wells Fargo Online · Personal Loans rate-checker · Mortgage prequalification · Credit Card prequalification. Products: all 6 Home Loan programs (Fixed/ARM/Jumbo/3%-down/FHA/VA), Personal Loan, credit-card line increases, refinance.</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C99A2E"/>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25–40% improvement in approval-to-funding cycles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Deutsche Bank 2025: 60% mortgage handling time reduction</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Mobile cross-sell uplift; defense against fintech credit</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C99A2E"/>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18–30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C99A2E"/>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High</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Wells' LIFE explainable-AI algorithm (extended)</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Federated learning across data partners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Alternative-data feature store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NVIDIA-accelerated real-time inference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AVM Rule + ECOA testing pipeline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Continuous fair-lending monitoring</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C99A2E"/>
                </a:solidFill>
                <a:latin typeface="Calibri" pitchFamily="34" charset="0"/>
                <a:ea typeface="Calibri" pitchFamily="34" charset="-122"/>
                <a:cs typeface="Calibri" pitchFamily="34" charset="-120"/>
              </a:rPr>
              <a:t>LONG-TERM USE CASE 05</a:t>
            </a:r>
            <a:endParaRPr lang="en-US" sz="1000" dirty="0"/>
          </a:p>
        </p:txBody>
      </p:sp>
      <p:sp>
        <p:nvSpPr>
          <p:cNvPr id="3" name="Shape 1"/>
          <p:cNvSpPr/>
          <p:nvPr/>
        </p:nvSpPr>
        <p:spPr>
          <a:xfrm>
            <a:off x="10698480" y="320040"/>
            <a:ext cx="1005840" cy="502920"/>
          </a:xfrm>
          <a:prstGeom prst="rect">
            <a:avLst/>
          </a:prstGeom>
          <a:solidFill>
            <a:srgbClr val="C99A2E"/>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L5</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Continuous Authentication &amp; Adaptive Trust</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Today's session model is binary — logged in or out. Mid-session account-takeover is the biggest mobile/web fraud vector. Once the front door is open, attackers move freely. Customers feel either over-authenticated or under-protected.</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Trust becomes dynamic and continuous across every session. AI continuously evaluates trust signals, adjusts allowed actions invisibly, and silently steps up only when truly needed. Zero-trust at session level, surfaced through Security Center.</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C99A2E"/>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C99A2E"/>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Surfaces: Wells Fargo Mobile app + Wells Fargo Online (every session), Security Center (visible trust status), every transactional flow. Products protected: full Personal-tab lineup — checking, savings, all 9 credit cards, Home/Personal/Auto loan accounts, Zelle, Bill Pay.</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C99A2E"/>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60–80% reduction in mid-session ATO</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Near-zero friction on legitimate sessions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Defines best-in-class digital trust posture</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C99A2E"/>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24–36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C99A2E"/>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Very High</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Multi-agent reinforcement learning</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Graph + behavioral neural networks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On-device + cloud hybrid inference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FIDO2 / passkeys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Real-time risk engine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Dynamic permission scopes</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C99A2E"/>
                </a:solidFill>
                <a:latin typeface="Calibri" pitchFamily="34" charset="0"/>
                <a:ea typeface="Calibri" pitchFamily="34" charset="-122"/>
                <a:cs typeface="Calibri" pitchFamily="34" charset="-120"/>
              </a:rPr>
              <a:t>LONG-TERM USE CASE 06</a:t>
            </a:r>
            <a:endParaRPr lang="en-US" sz="1000" dirty="0"/>
          </a:p>
        </p:txBody>
      </p:sp>
      <p:sp>
        <p:nvSpPr>
          <p:cNvPr id="3" name="Shape 1"/>
          <p:cNvSpPr/>
          <p:nvPr/>
        </p:nvSpPr>
        <p:spPr>
          <a:xfrm>
            <a:off x="10698480" y="320040"/>
            <a:ext cx="1005840" cy="502920"/>
          </a:xfrm>
          <a:prstGeom prst="rect">
            <a:avLst/>
          </a:prstGeom>
          <a:solidFill>
            <a:srgbClr val="C99A2E"/>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L6</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Mass-Affluent Digital RM via Premier</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The $250K+ Premier segment is the biggest growth opportunity Wells has — 'millions of customers with $6–8T held away from us' per CFO Santomassimo (Nov 2025). Premier banker time doesn't scale. JPM Coach AI is moving fast into this gap.</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AI digital RM augmenting Wells Fargo Premier — gives Premier customers advice-grade interactions through the mobile/web app. Portfolio rebalancing, tax-aware optimization, generational planning, proactive market commentary, video + voice — at scale.</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C99A2E"/>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C99A2E"/>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 Wells Fargo Premier (Personal-tab top navigation, relaunched Oct 2025), LifeSync, Wells Fargo Mobile app, Premier Checking page. Products touched: Premier Checking, Platinum Savings, Standard CDs, Wells Fargo Advisors referral (cross-link to WIM).</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C99A2E"/>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JPM Coach AI benchmark: 95% faster info retrieval; 20% YoY AWM gross-sales growth</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50% client-base expansion per banker over 3–5 years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Capture share of the $6–8T 'held away'</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C99A2E"/>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24–36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C99A2E"/>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High</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GenAI agents with research-corpus retrieval</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Portfolio optimization models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Voice + video conversational interface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Tax-aware multi-account orchestration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SEC Reg BI + FINRA controls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Fiduciary-aligned guardrails</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C99A2E"/>
                </a:solidFill>
                <a:latin typeface="Calibri" pitchFamily="34" charset="0"/>
                <a:ea typeface="Calibri" pitchFamily="34" charset="-122"/>
                <a:cs typeface="Calibri" pitchFamily="34" charset="-120"/>
              </a:rPr>
              <a:t>LONG-TERM USE CASE 07</a:t>
            </a:r>
            <a:endParaRPr lang="en-US" sz="1000" dirty="0"/>
          </a:p>
        </p:txBody>
      </p:sp>
      <p:sp>
        <p:nvSpPr>
          <p:cNvPr id="3" name="Shape 1"/>
          <p:cNvSpPr/>
          <p:nvPr/>
        </p:nvSpPr>
        <p:spPr>
          <a:xfrm>
            <a:off x="10698480" y="320040"/>
            <a:ext cx="1005840" cy="502920"/>
          </a:xfrm>
          <a:prstGeom prst="rect">
            <a:avLst/>
          </a:prstGeom>
          <a:solidFill>
            <a:srgbClr val="C99A2E"/>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L7</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AI Financial Coach in Wells Fargo Mobile</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Most customers under-save, over-borrow, and don't have access to advice. The financial-wellness gap is a ~$1T problem in the US. Neobanks (Cleo, Albert, Chime) have built brands here while traditional banks watch from the sidelines.</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AI-powered financial coach embedded in the Wells Fargo Mobile app — conversational, personalized, goal-aware. Answers questions, sets goals, tracks progress, nudges habits. Distinct from L6 RM: broader audience, lighter touch, no fiduciary advice.</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C99A2E"/>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C99A2E"/>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Surfaces: Wells Fargo Mobile app, LifeSync, Financial Health hub, Education &amp; Tools. Products touched: Way2Save Savings (goal-linked sub-accounts), Active Cash + Reflect (debt management), Everyday &amp; Prime Checking (cash management), Personal Loan (refinance/consolidation).</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C99A2E"/>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15–25% lift in savings rate on engaged cohorts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+8–12 pt NPS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Defense against neobanks (Cleo, Albert, Chime) for under-35 segment</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C99A2E"/>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18–30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C99A2E"/>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High</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LLM with personalization layer</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Goal-tracking ML</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Pega for nudge execution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CFPB UDAAP-aligned guardrails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Behavioral economics framework</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Customer 360 retrieval</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C99A2E"/>
                </a:solidFill>
                <a:latin typeface="Calibri" pitchFamily="34" charset="0"/>
                <a:ea typeface="Calibri" pitchFamily="34" charset="-122"/>
                <a:cs typeface="Calibri" pitchFamily="34" charset="-120"/>
              </a:rPr>
              <a:t>LONG-TERM USE CASE 08</a:t>
            </a:r>
            <a:endParaRPr lang="en-US" sz="1000" dirty="0"/>
          </a:p>
        </p:txBody>
      </p:sp>
      <p:sp>
        <p:nvSpPr>
          <p:cNvPr id="3" name="Shape 1"/>
          <p:cNvSpPr/>
          <p:nvPr/>
        </p:nvSpPr>
        <p:spPr>
          <a:xfrm>
            <a:off x="10698480" y="320040"/>
            <a:ext cx="1005840" cy="502920"/>
          </a:xfrm>
          <a:prstGeom prst="rect">
            <a:avLst/>
          </a:prstGeom>
          <a:solidFill>
            <a:srgbClr val="C99A2E"/>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L8</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Multimodal Mobile Banking — Voice, Image, Video</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App navigation is friction. Customers want to speak, snap a contractor invoice, share a screenshot of a competitor offer — not tap through menus. Accessibility cohorts are underserved by today's UX.</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Multimodal AI in the Wells Fargo Mobile app accepts voice, image, video, and screen-share as natural inputs. Customer uploads an invoice, says 'is this right? pay it if so' — bank reads, advises, acts. Builds on Fargo's existing voice/Spanish foundation.</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C99A2E"/>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C99A2E"/>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 Wells Fargo Mobile app (multimodal input layer across all features), Fargo expanded, Spanish-language mirror at /es/. Products touched: Bill Pay (invoice capture), Mobile Deposit (extension to receipt capture), Customer Service (screen-share), Education &amp; Tools (calculator inputs via voice).</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C99A2E"/>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Higher engagement among digital-first cohorts (60% of millennials primarily use mobile banking — PYMNTS)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+5–10 pt NPS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Accessibility expansion (vision, mobility, language)</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C99A2E"/>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18–30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C99A2E"/>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Medium–High</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Multimodal Gemini</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Whisper / multilingual speech</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Document AI + Vision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Accessibility (WCAG 2.2 AA)</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On-device + cloud hybrid inference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Cross-channel session continuity</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C99A2E"/>
                </a:solidFill>
                <a:latin typeface="Calibri" pitchFamily="34" charset="0"/>
                <a:ea typeface="Calibri" pitchFamily="34" charset="-122"/>
                <a:cs typeface="Calibri" pitchFamily="34" charset="-120"/>
              </a:rPr>
              <a:t>LONG-TERM USE CASE 09</a:t>
            </a:r>
            <a:endParaRPr lang="en-US" sz="1000" dirty="0"/>
          </a:p>
        </p:txBody>
      </p:sp>
      <p:sp>
        <p:nvSpPr>
          <p:cNvPr id="3" name="Shape 1"/>
          <p:cNvSpPr/>
          <p:nvPr/>
        </p:nvSpPr>
        <p:spPr>
          <a:xfrm>
            <a:off x="10698480" y="320040"/>
            <a:ext cx="1005840" cy="502920"/>
          </a:xfrm>
          <a:prstGeom prst="rect">
            <a:avLst/>
          </a:prstGeom>
          <a:solidFill>
            <a:srgbClr val="C99A2E"/>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L9</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Predictive Customer Journey Orchestration</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Channel handoffs feel like restart events. Customer calls about a mortgage application, opens the Wells Fargo Mobile app, then walks into a branch — and each time they repeat themselves. Erodes trust, inflates handle time.</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Central orchestrator (analogous to JPM Connect Coach + Smart Monitor) watches signals across mobile, web, branch, and call center, pre-positions the right action, content, and human handoff. Channel handoffs become invisible to the customer.</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C99A2E"/>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C99A2E"/>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Surfaces: Wells Fargo Mobile app, Wells Fargo Online, branch banker tablet, call center desktop, every customer-facing touchpoint. Products touched: end-to-end journeys for Home Loans (most channel-heavy), Premier (banker-augmented), Personal Loan, Auto servicing.</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C99A2E"/>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3–10x engagement uplift across channels (Pega benchmark already proven at Wells)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10–20% cross-sell uplift</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Dramatic reduction in repeat contacts</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C99A2E"/>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24–36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C99A2E"/>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High</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Expanded Pega Customer Decision Hub</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Real-time event mesh (Kafka)</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GenAI decisioning + content generation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Omni-channel session continuity</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Unified Customer 360 (semantic fabric)</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Privacy-preserving signal aggregation</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320040"/>
            <a:ext cx="7315200" cy="274320"/>
          </a:xfrm>
          <a:prstGeom prst="rect">
            <a:avLst/>
          </a:prstGeom>
          <a:noFill/>
          <a:ln/>
        </p:spPr>
        <p:txBody>
          <a:bodyPr wrap="square" lIns="0" tIns="0" rIns="0" bIns="0" rtlCol="0" anchor="ctr"/>
          <a:lstStyle/>
          <a:p>
            <a:pPr marL="0" indent="0">
              <a:buNone/>
            </a:pPr>
            <a:r>
              <a:rPr lang="en-US" sz="1000" b="1" kern="0" spc="400" dirty="0">
                <a:solidFill>
                  <a:srgbClr val="C99A2E"/>
                </a:solidFill>
                <a:latin typeface="Calibri" pitchFamily="34" charset="0"/>
                <a:ea typeface="Calibri" pitchFamily="34" charset="-122"/>
                <a:cs typeface="Calibri" pitchFamily="34" charset="-120"/>
              </a:rPr>
              <a:t>LONG-TERM USE CASE 10</a:t>
            </a:r>
            <a:endParaRPr lang="en-US" sz="1000" dirty="0"/>
          </a:p>
        </p:txBody>
      </p:sp>
      <p:sp>
        <p:nvSpPr>
          <p:cNvPr id="3" name="Shape 1"/>
          <p:cNvSpPr/>
          <p:nvPr/>
        </p:nvSpPr>
        <p:spPr>
          <a:xfrm>
            <a:off x="10698480" y="320040"/>
            <a:ext cx="1005840" cy="502920"/>
          </a:xfrm>
          <a:prstGeom prst="rect">
            <a:avLst/>
          </a:prstGeom>
          <a:solidFill>
            <a:srgbClr val="C99A2E"/>
          </a:solidFill>
          <a:ln/>
        </p:spPr>
        <p:txBody>
          <a:bodyPr/>
          <a:lstStyle/>
          <a:p>
            <a:endParaRPr lang="en-US"/>
          </a:p>
        </p:txBody>
      </p:sp>
      <p:sp>
        <p:nvSpPr>
          <p:cNvPr id="4" name="Text 2"/>
          <p:cNvSpPr/>
          <p:nvPr/>
        </p:nvSpPr>
        <p:spPr>
          <a:xfrm>
            <a:off x="10698480" y="320040"/>
            <a:ext cx="100584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L10</a:t>
            </a:r>
            <a:endParaRPr lang="en-US" sz="2200" dirty="0"/>
          </a:p>
        </p:txBody>
      </p:sp>
      <p:sp>
        <p:nvSpPr>
          <p:cNvPr id="5" name="Text 3"/>
          <p:cNvSpPr/>
          <p:nvPr/>
        </p:nvSpPr>
        <p:spPr>
          <a:xfrm>
            <a:off x="457200" y="621792"/>
            <a:ext cx="10058400" cy="777240"/>
          </a:xfrm>
          <a:prstGeom prst="rect">
            <a:avLst/>
          </a:prstGeom>
          <a:noFill/>
          <a:ln/>
        </p:spPr>
        <p:txBody>
          <a:bodyPr wrap="square" lIns="0" tIns="0" rIns="0" bIns="0" rtlCol="0" anchor="ctr"/>
          <a:lstStyle/>
          <a:p>
            <a:pPr marL="0" indent="0">
              <a:buNone/>
            </a:pPr>
            <a:r>
              <a:rPr lang="en-US" sz="2400" b="1" dirty="0">
                <a:solidFill>
                  <a:srgbClr val="1A1A1A"/>
                </a:solidFill>
                <a:latin typeface="Georgia" pitchFamily="34" charset="0"/>
                <a:ea typeface="Georgia" pitchFamily="34" charset="-122"/>
                <a:cs typeface="Georgia" pitchFamily="34" charset="-120"/>
              </a:rPr>
              <a:t>Open Banking &amp; AI External-Account Insights</a:t>
            </a:r>
            <a:endParaRPr lang="en-US" sz="2400" dirty="0"/>
          </a:p>
        </p:txBody>
      </p:sp>
      <p:pic>
        <p:nvPicPr>
          <p:cNvPr id="6" name="Image 0" descr="preencoded.png"/>
          <p:cNvPicPr>
            <a:picLocks noChangeAspect="1"/>
          </p:cNvPicPr>
          <p:nvPr/>
        </p:nvPicPr>
        <p:blipFill>
          <a:blip r:embed="rId3"/>
          <a:stretch>
            <a:fillRect/>
          </a:stretch>
        </p:blipFill>
        <p:spPr>
          <a:xfrm>
            <a:off x="457200" y="1600200"/>
            <a:ext cx="384048" cy="384048"/>
          </a:xfrm>
          <a:prstGeom prst="rect">
            <a:avLst/>
          </a:prstGeom>
        </p:spPr>
      </p:pic>
      <p:sp>
        <p:nvSpPr>
          <p:cNvPr id="7" name="Text 4"/>
          <p:cNvSpPr/>
          <p:nvPr/>
        </p:nvSpPr>
        <p:spPr>
          <a:xfrm>
            <a:off x="960120" y="1627632"/>
            <a:ext cx="5029200" cy="274320"/>
          </a:xfrm>
          <a:prstGeom prst="rect">
            <a:avLst/>
          </a:prstGeom>
          <a:noFill/>
          <a:ln/>
        </p:spPr>
        <p:txBody>
          <a:bodyPr wrap="square" lIns="0" tIns="0" rIns="0" bIns="0" rtlCol="0" anchor="ctr"/>
          <a:lstStyle/>
          <a:p>
            <a:pPr marL="0" indent="0">
              <a:buNone/>
            </a:pPr>
            <a:r>
              <a:rPr lang="en-US" sz="1000" b="1" kern="0" spc="300" dirty="0">
                <a:solidFill>
                  <a:srgbClr val="6B6B6B"/>
                </a:solidFill>
                <a:latin typeface="Calibri" pitchFamily="34" charset="0"/>
                <a:ea typeface="Calibri" pitchFamily="34" charset="-122"/>
                <a:cs typeface="Calibri" pitchFamily="34" charset="-120"/>
              </a:rPr>
              <a:t>CURRENT PAIN POINT</a:t>
            </a:r>
            <a:endParaRPr lang="en-US" sz="1000" dirty="0"/>
          </a:p>
        </p:txBody>
      </p:sp>
      <p:sp>
        <p:nvSpPr>
          <p:cNvPr id="8" name="Text 5"/>
          <p:cNvSpPr/>
          <p:nvPr/>
        </p:nvSpPr>
        <p:spPr>
          <a:xfrm>
            <a:off x="457200" y="205740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The average US household has 5–7 financial relationships. None see the full picture — including Wells. Aggregators (Plaid, MX, Yodlee) provide the pipes but not the insights. PFM apps (Empower, Monarch) own the unified view that Wells should own.</a:t>
            </a:r>
            <a:endParaRPr lang="en-US" sz="1100" dirty="0"/>
          </a:p>
        </p:txBody>
      </p:sp>
      <p:sp>
        <p:nvSpPr>
          <p:cNvPr id="9" name="Text 6"/>
          <p:cNvSpPr/>
          <p:nvPr/>
        </p:nvSpPr>
        <p:spPr>
          <a:xfrm>
            <a:off x="457200" y="3383280"/>
            <a:ext cx="548640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AI-DRIVEN SOLUTION</a:t>
            </a:r>
            <a:endParaRPr lang="en-US" sz="1000" dirty="0"/>
          </a:p>
        </p:txBody>
      </p:sp>
      <p:sp>
        <p:nvSpPr>
          <p:cNvPr id="10" name="Text 7"/>
          <p:cNvSpPr/>
          <p:nvPr/>
        </p:nvSpPr>
        <p:spPr>
          <a:xfrm>
            <a:off x="457200" y="3703320"/>
            <a:ext cx="5486400" cy="1280160"/>
          </a:xfrm>
          <a:prstGeom prst="rect">
            <a:avLst/>
          </a:prstGeom>
          <a:noFill/>
          <a:ln/>
        </p:spPr>
        <p:txBody>
          <a:bodyPr wrap="square" lIns="0" tIns="0" rIns="0" bIns="0" rtlCol="0" anchor="ctr"/>
          <a:lstStyle/>
          <a:p>
            <a:pPr marL="0" indent="0">
              <a:spcAft>
                <a:spcPts val="400"/>
              </a:spcAft>
              <a:buNone/>
            </a:pPr>
            <a:r>
              <a:rPr lang="en-US" sz="1100" dirty="0">
                <a:solidFill>
                  <a:srgbClr val="3D3D3D"/>
                </a:solidFill>
                <a:latin typeface="Calibri" pitchFamily="34" charset="0"/>
                <a:ea typeface="Calibri" pitchFamily="34" charset="-122"/>
                <a:cs typeface="Calibri" pitchFamily="34" charset="-120"/>
              </a:rPr>
              <a:t>Customers connect external accounts (other banks, brokerages, retirement, credit cards) inside the Wells Fargo Mobile app. AI-driven aggregation insights — net worth, rebalancing, cross-account fraud signals, debt optimization — delivered through Wells as primary surface.</a:t>
            </a:r>
            <a:endParaRPr lang="en-US" sz="1100" dirty="0"/>
          </a:p>
        </p:txBody>
      </p:sp>
      <p:sp>
        <p:nvSpPr>
          <p:cNvPr id="11" name="Shape 8"/>
          <p:cNvSpPr/>
          <p:nvPr/>
        </p:nvSpPr>
        <p:spPr>
          <a:xfrm>
            <a:off x="457200" y="5074920"/>
            <a:ext cx="5486400" cy="1234440"/>
          </a:xfrm>
          <a:prstGeom prst="rect">
            <a:avLst/>
          </a:prstGeom>
          <a:solidFill>
            <a:srgbClr val="F7F4EE"/>
          </a:solidFill>
          <a:ln/>
        </p:spPr>
        <p:txBody>
          <a:bodyPr/>
          <a:lstStyle/>
          <a:p>
            <a:endParaRPr lang="en-US"/>
          </a:p>
        </p:txBody>
      </p:sp>
      <p:sp>
        <p:nvSpPr>
          <p:cNvPr id="12" name="Shape 9"/>
          <p:cNvSpPr/>
          <p:nvPr/>
        </p:nvSpPr>
        <p:spPr>
          <a:xfrm>
            <a:off x="457200" y="5074920"/>
            <a:ext cx="73152" cy="1234440"/>
          </a:xfrm>
          <a:prstGeom prst="rect">
            <a:avLst/>
          </a:prstGeom>
          <a:solidFill>
            <a:srgbClr val="C99A2E"/>
          </a:solidFill>
          <a:ln/>
        </p:spPr>
        <p:txBody>
          <a:bodyPr/>
          <a:lstStyle/>
          <a:p>
            <a:endParaRPr lang="en-US"/>
          </a:p>
        </p:txBody>
      </p:sp>
      <p:sp>
        <p:nvSpPr>
          <p:cNvPr id="13" name="Text 10"/>
          <p:cNvSpPr/>
          <p:nvPr/>
        </p:nvSpPr>
        <p:spPr>
          <a:xfrm>
            <a:off x="594360" y="5120640"/>
            <a:ext cx="5303520" cy="228600"/>
          </a:xfrm>
          <a:prstGeom prst="rect">
            <a:avLst/>
          </a:prstGeom>
          <a:noFill/>
          <a:ln/>
        </p:spPr>
        <p:txBody>
          <a:bodyPr wrap="square" lIns="0" tIns="0" rIns="0" bIns="0" rtlCol="0" anchor="ctr"/>
          <a:lstStyle/>
          <a:p>
            <a:pPr marL="0" indent="0">
              <a:buNone/>
            </a:pPr>
            <a:r>
              <a:rPr lang="en-US" sz="900" b="1" kern="0" spc="300" dirty="0">
                <a:solidFill>
                  <a:srgbClr val="C99A2E"/>
                </a:solidFill>
                <a:latin typeface="Calibri" pitchFamily="34" charset="0"/>
                <a:ea typeface="Calibri" pitchFamily="34" charset="-122"/>
                <a:cs typeface="Calibri" pitchFamily="34" charset="-120"/>
              </a:rPr>
              <a:t>RETAIL BANKING ANCHOR</a:t>
            </a:r>
            <a:endParaRPr lang="en-US" sz="900" dirty="0"/>
          </a:p>
        </p:txBody>
      </p:sp>
      <p:sp>
        <p:nvSpPr>
          <p:cNvPr id="14" name="Text 11"/>
          <p:cNvSpPr/>
          <p:nvPr/>
        </p:nvSpPr>
        <p:spPr>
          <a:xfrm>
            <a:off x="594360" y="5349240"/>
            <a:ext cx="5303520" cy="914400"/>
          </a:xfrm>
          <a:prstGeom prst="rect">
            <a:avLst/>
          </a:prstGeom>
          <a:noFill/>
          <a:ln/>
        </p:spPr>
        <p:txBody>
          <a:bodyPr wrap="square" lIns="0" tIns="0" rIns="0" bIns="0" rtlCol="0" anchor="ctr"/>
          <a:lstStyle/>
          <a:p>
            <a:pPr marL="0" indent="0">
              <a:spcAft>
                <a:spcPts val="200"/>
              </a:spcAft>
              <a:buNone/>
            </a:pPr>
            <a:r>
              <a:rPr lang="en-US" sz="950" dirty="0">
                <a:solidFill>
                  <a:srgbClr val="3D3D3D"/>
                </a:solidFill>
                <a:latin typeface="Calibri" pitchFamily="34" charset="0"/>
                <a:ea typeface="Calibri" pitchFamily="34" charset="-122"/>
                <a:cs typeface="Calibri" pitchFamily="34" charset="-120"/>
              </a:rPr>
              <a:t>Surfaces: Wells Fargo Mobile app, LifeSync (existing aggregation features), Premier dashboard, My Money Map / Budget Watch. Products touched: every Personal-tab product becomes the primary node in the customer's broader financial graph — particularly Premier (high external-account density).</a:t>
            </a:r>
            <a:endParaRPr lang="en-US" sz="950" dirty="0"/>
          </a:p>
        </p:txBody>
      </p:sp>
      <p:sp>
        <p:nvSpPr>
          <p:cNvPr id="15" name="Shape 12"/>
          <p:cNvSpPr/>
          <p:nvPr/>
        </p:nvSpPr>
        <p:spPr>
          <a:xfrm>
            <a:off x="6217920" y="1600200"/>
            <a:ext cx="5486400" cy="1417320"/>
          </a:xfrm>
          <a:prstGeom prst="rect">
            <a:avLst/>
          </a:prstGeom>
          <a:solidFill>
            <a:srgbClr val="F7F4EE"/>
          </a:solidFill>
          <a:ln/>
        </p:spPr>
        <p:txBody>
          <a:bodyPr/>
          <a:lstStyle/>
          <a:p>
            <a:endParaRPr lang="en-US"/>
          </a:p>
        </p:txBody>
      </p:sp>
      <p:sp>
        <p:nvSpPr>
          <p:cNvPr id="16" name="Shape 13"/>
          <p:cNvSpPr/>
          <p:nvPr/>
        </p:nvSpPr>
        <p:spPr>
          <a:xfrm>
            <a:off x="6217920" y="1600200"/>
            <a:ext cx="91440" cy="1417320"/>
          </a:xfrm>
          <a:prstGeom prst="rect">
            <a:avLst/>
          </a:prstGeom>
          <a:solidFill>
            <a:srgbClr val="C99A2E"/>
          </a:solidFill>
          <a:ln/>
        </p:spPr>
        <p:txBody>
          <a:bodyPr/>
          <a:lstStyle/>
          <a:p>
            <a:endParaRPr lang="en-US"/>
          </a:p>
        </p:txBody>
      </p:sp>
      <p:sp>
        <p:nvSpPr>
          <p:cNvPr id="17" name="Text 14"/>
          <p:cNvSpPr/>
          <p:nvPr/>
        </p:nvSpPr>
        <p:spPr>
          <a:xfrm>
            <a:off x="6355080" y="1664208"/>
            <a:ext cx="5212080" cy="274320"/>
          </a:xfrm>
          <a:prstGeom prst="rect">
            <a:avLst/>
          </a:prstGeom>
          <a:noFill/>
          <a:ln/>
        </p:spPr>
        <p:txBody>
          <a:bodyPr wrap="square" lIns="0" tIns="0" rIns="0" bIns="0" rtlCol="0" anchor="ctr"/>
          <a:lstStyle/>
          <a:p>
            <a:pPr marL="0" indent="0">
              <a:buNone/>
            </a:pPr>
            <a:r>
              <a:rPr lang="en-US" sz="1000" b="1" kern="0" spc="300" dirty="0">
                <a:solidFill>
                  <a:srgbClr val="1A1A1A"/>
                </a:solidFill>
                <a:latin typeface="Calibri" pitchFamily="34" charset="0"/>
                <a:ea typeface="Calibri" pitchFamily="34" charset="-122"/>
                <a:cs typeface="Calibri" pitchFamily="34" charset="-120"/>
              </a:rPr>
              <a:t>BUSINESS IMPACT</a:t>
            </a:r>
            <a:endParaRPr lang="en-US" sz="1000" dirty="0"/>
          </a:p>
        </p:txBody>
      </p:sp>
      <p:sp>
        <p:nvSpPr>
          <p:cNvPr id="18" name="Text 15"/>
          <p:cNvSpPr/>
          <p:nvPr/>
        </p:nvSpPr>
        <p:spPr>
          <a:xfrm>
            <a:off x="6355080" y="1965960"/>
            <a:ext cx="5212080" cy="1005840"/>
          </a:xfrm>
          <a:prstGeom prst="rect">
            <a:avLst/>
          </a:prstGeom>
          <a:noFill/>
          <a:ln/>
        </p:spPr>
        <p:txBody>
          <a:bodyPr wrap="square" lIns="0" tIns="0" rIns="0" bIns="0" rtlCol="0" anchor="ctr"/>
          <a:lstStyle/>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Primary-bank capture among multi-bank households</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Defense against PFM aggregators (Empower, Monarch, Copilot)</a:t>
            </a:r>
            <a:endParaRPr lang="en-US" sz="1100" dirty="0"/>
          </a:p>
          <a:p>
            <a:pPr marL="0" indent="0">
              <a:spcAft>
                <a:spcPts val="300"/>
              </a:spcAft>
              <a:buNone/>
            </a:pPr>
            <a:r>
              <a:rPr lang="en-US" sz="1100" dirty="0">
                <a:solidFill>
                  <a:srgbClr val="3D3D3D"/>
                </a:solidFill>
                <a:latin typeface="Calibri" pitchFamily="34" charset="0"/>
                <a:ea typeface="Calibri" pitchFamily="34" charset="-122"/>
                <a:cs typeface="Calibri" pitchFamily="34" charset="-120"/>
              </a:rPr>
              <a:t>Deeper share-of-wallet via advice-led insights</a:t>
            </a:r>
            <a:endParaRPr lang="en-US" sz="1100" dirty="0"/>
          </a:p>
        </p:txBody>
      </p:sp>
      <p:sp>
        <p:nvSpPr>
          <p:cNvPr id="19" name="Shape 16"/>
          <p:cNvSpPr/>
          <p:nvPr/>
        </p:nvSpPr>
        <p:spPr>
          <a:xfrm>
            <a:off x="6217920" y="3154680"/>
            <a:ext cx="2651760" cy="822960"/>
          </a:xfrm>
          <a:prstGeom prst="rect">
            <a:avLst/>
          </a:prstGeom>
          <a:solidFill>
            <a:srgbClr val="F7F4EE"/>
          </a:solidFill>
          <a:ln/>
        </p:spPr>
        <p:txBody>
          <a:bodyPr/>
          <a:lstStyle/>
          <a:p>
            <a:endParaRPr lang="en-US"/>
          </a:p>
        </p:txBody>
      </p:sp>
      <p:sp>
        <p:nvSpPr>
          <p:cNvPr id="20" name="Shape 17"/>
          <p:cNvSpPr/>
          <p:nvPr/>
        </p:nvSpPr>
        <p:spPr>
          <a:xfrm>
            <a:off x="6217920" y="3154680"/>
            <a:ext cx="91440" cy="822960"/>
          </a:xfrm>
          <a:prstGeom prst="rect">
            <a:avLst/>
          </a:prstGeom>
          <a:solidFill>
            <a:srgbClr val="C99A2E"/>
          </a:solidFill>
          <a:ln/>
        </p:spPr>
        <p:txBody>
          <a:bodyPr/>
          <a:lstStyle/>
          <a:p>
            <a:endParaRPr lang="en-US"/>
          </a:p>
        </p:txBody>
      </p:sp>
      <p:sp>
        <p:nvSpPr>
          <p:cNvPr id="21" name="Text 18"/>
          <p:cNvSpPr/>
          <p:nvPr/>
        </p:nvSpPr>
        <p:spPr>
          <a:xfrm>
            <a:off x="635508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PAYBACK</a:t>
            </a:r>
            <a:endParaRPr lang="en-US" sz="900" dirty="0"/>
          </a:p>
        </p:txBody>
      </p:sp>
      <p:sp>
        <p:nvSpPr>
          <p:cNvPr id="22" name="Text 19"/>
          <p:cNvSpPr/>
          <p:nvPr/>
        </p:nvSpPr>
        <p:spPr>
          <a:xfrm>
            <a:off x="635508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24–36 months</a:t>
            </a:r>
            <a:endParaRPr lang="en-US" sz="1400" dirty="0"/>
          </a:p>
        </p:txBody>
      </p:sp>
      <p:sp>
        <p:nvSpPr>
          <p:cNvPr id="23" name="Shape 20"/>
          <p:cNvSpPr/>
          <p:nvPr/>
        </p:nvSpPr>
        <p:spPr>
          <a:xfrm>
            <a:off x="9052560" y="3154680"/>
            <a:ext cx="2651760" cy="822960"/>
          </a:xfrm>
          <a:prstGeom prst="rect">
            <a:avLst/>
          </a:prstGeom>
          <a:solidFill>
            <a:srgbClr val="F7F4EE"/>
          </a:solidFill>
          <a:ln/>
        </p:spPr>
        <p:txBody>
          <a:bodyPr/>
          <a:lstStyle/>
          <a:p>
            <a:endParaRPr lang="en-US"/>
          </a:p>
        </p:txBody>
      </p:sp>
      <p:sp>
        <p:nvSpPr>
          <p:cNvPr id="24" name="Shape 21"/>
          <p:cNvSpPr/>
          <p:nvPr/>
        </p:nvSpPr>
        <p:spPr>
          <a:xfrm>
            <a:off x="9052560" y="3154680"/>
            <a:ext cx="91440" cy="822960"/>
          </a:xfrm>
          <a:prstGeom prst="rect">
            <a:avLst/>
          </a:prstGeom>
          <a:solidFill>
            <a:srgbClr val="C99A2E"/>
          </a:solidFill>
          <a:ln/>
        </p:spPr>
        <p:txBody>
          <a:bodyPr/>
          <a:lstStyle/>
          <a:p>
            <a:endParaRPr lang="en-US"/>
          </a:p>
        </p:txBody>
      </p:sp>
      <p:sp>
        <p:nvSpPr>
          <p:cNvPr id="25" name="Text 22"/>
          <p:cNvSpPr/>
          <p:nvPr/>
        </p:nvSpPr>
        <p:spPr>
          <a:xfrm>
            <a:off x="9189720" y="3218688"/>
            <a:ext cx="2468880" cy="201168"/>
          </a:xfrm>
          <a:prstGeom prst="rect">
            <a:avLst/>
          </a:prstGeom>
          <a:noFill/>
          <a:ln/>
        </p:spPr>
        <p:txBody>
          <a:bodyPr wrap="square" lIns="0" tIns="0" rIns="0" bIns="0" rtlCol="0" anchor="ctr"/>
          <a:lstStyle/>
          <a:p>
            <a:pPr marL="0" indent="0">
              <a:buNone/>
            </a:pPr>
            <a:r>
              <a:rPr lang="en-US" sz="900" b="1" kern="0" spc="30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6" name="Text 23"/>
          <p:cNvSpPr/>
          <p:nvPr/>
        </p:nvSpPr>
        <p:spPr>
          <a:xfrm>
            <a:off x="9189720" y="3429000"/>
            <a:ext cx="2468880" cy="502920"/>
          </a:xfrm>
          <a:prstGeom prst="rect">
            <a:avLst/>
          </a:prstGeom>
          <a:noFill/>
          <a:ln/>
        </p:spPr>
        <p:txBody>
          <a:bodyPr wrap="square" lIns="0" tIns="0" rIns="0" bIns="0" rtlCol="0" anchor="ctr"/>
          <a:lstStyle/>
          <a:p>
            <a:pPr marL="0" indent="0">
              <a:buNone/>
            </a:pPr>
            <a:r>
              <a:rPr lang="en-US" sz="1400" b="1" dirty="0">
                <a:solidFill>
                  <a:srgbClr val="1A1A1A"/>
                </a:solidFill>
                <a:latin typeface="Georgia" pitchFamily="34" charset="0"/>
                <a:ea typeface="Georgia" pitchFamily="34" charset="-122"/>
                <a:cs typeface="Georgia" pitchFamily="34" charset="-120"/>
              </a:rPr>
              <a:t>High</a:t>
            </a:r>
            <a:endParaRPr lang="en-US" sz="1400" dirty="0"/>
          </a:p>
        </p:txBody>
      </p:sp>
      <p:sp>
        <p:nvSpPr>
          <p:cNvPr id="27" name="Shape 24"/>
          <p:cNvSpPr/>
          <p:nvPr/>
        </p:nvSpPr>
        <p:spPr>
          <a:xfrm>
            <a:off x="6217920" y="4114800"/>
            <a:ext cx="5486400" cy="2194560"/>
          </a:xfrm>
          <a:prstGeom prst="rect">
            <a:avLst/>
          </a:prstGeom>
          <a:solidFill>
            <a:srgbClr val="1A1A1A"/>
          </a:solidFill>
          <a:ln/>
        </p:spPr>
        <p:txBody>
          <a:bodyPr/>
          <a:lstStyle/>
          <a:p>
            <a:endParaRPr lang="en-US"/>
          </a:p>
        </p:txBody>
      </p:sp>
      <p:sp>
        <p:nvSpPr>
          <p:cNvPr id="28" name="Text 25"/>
          <p:cNvSpPr/>
          <p:nvPr/>
        </p:nvSpPr>
        <p:spPr>
          <a:xfrm>
            <a:off x="6355080" y="4206240"/>
            <a:ext cx="5212080" cy="274320"/>
          </a:xfrm>
          <a:prstGeom prst="rect">
            <a:avLst/>
          </a:prstGeom>
          <a:noFill/>
          <a:ln/>
        </p:spPr>
        <p:txBody>
          <a:bodyPr wrap="square" lIns="0" tIns="0" rIns="0" bIns="0" rtlCol="0" anchor="ctr"/>
          <a:lstStyle/>
          <a:p>
            <a:pPr marL="0" indent="0">
              <a:buNone/>
            </a:pPr>
            <a:r>
              <a:rPr lang="en-US" sz="1000" b="1" kern="0" spc="300" dirty="0">
                <a:solidFill>
                  <a:srgbClr val="C99A2E"/>
                </a:solidFill>
                <a:latin typeface="Calibri" pitchFamily="34" charset="0"/>
                <a:ea typeface="Calibri" pitchFamily="34" charset="-122"/>
                <a:cs typeface="Calibri" pitchFamily="34" charset="-120"/>
              </a:rPr>
              <a:t>TECH STACK</a:t>
            </a:r>
            <a:endParaRPr lang="en-US" sz="1000" dirty="0"/>
          </a:p>
        </p:txBody>
      </p:sp>
      <p:sp>
        <p:nvSpPr>
          <p:cNvPr id="29" name="Text 26"/>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Open Banking APIs (Plaid / MX / Yodlee / Finicity)</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Data normalization + entity resolution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GenAI insight generation</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Knowledge graph of accounts + holdings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Cross-account risk modeling</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FDX (Financial Data Exchange) standards</a:t>
            </a:r>
            <a:endParaRPr lang="en-US" sz="1050" dirty="0"/>
          </a:p>
        </p:txBody>
      </p:sp>
      <p:sp>
        <p:nvSpPr>
          <p:cNvPr id="30" name="Text 27"/>
          <p:cNvSpPr/>
          <p:nvPr/>
        </p:nvSpPr>
        <p:spPr>
          <a:xfrm>
            <a:off x="457200" y="6446520"/>
            <a:ext cx="8229600" cy="274320"/>
          </a:xfrm>
          <a:prstGeom prst="rect">
            <a:avLst/>
          </a:prstGeom>
          <a:noFill/>
          <a:ln/>
        </p:spPr>
        <p:txBody>
          <a:bodyPr wrap="square" lIns="0" tIns="0" rIns="0" bIns="0" rtlCol="0" anchor="ctr"/>
          <a:lstStyle/>
          <a:p>
            <a:pPr marL="0" indent="0">
              <a:buNone/>
            </a:pPr>
            <a:r>
              <a:rPr lang="en-US" sz="900" dirty="0">
                <a:solidFill>
                  <a:srgbClr val="6B6B6B"/>
                </a:solidFill>
                <a:latin typeface="Calibri" pitchFamily="34" charset="0"/>
                <a:ea typeface="Calibri" pitchFamily="34" charset="-122"/>
                <a:cs typeface="Calibri" pitchFamily="34" charset="-120"/>
              </a:rPr>
              <a:t>Wells Fargo  |  Retail Banking AI Strategy 2026</a:t>
            </a:r>
            <a:endParaRPr lang="en-US" sz="900" dirty="0"/>
          </a:p>
        </p:txBody>
      </p:sp>
      <p:sp>
        <p:nvSpPr>
          <p:cNvPr id="31" name="Text 28"/>
          <p:cNvSpPr/>
          <p:nvPr/>
        </p:nvSpPr>
        <p:spPr>
          <a:xfrm>
            <a:off x="11430000" y="6446520"/>
            <a:ext cx="45720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10533</Words>
  <Application>Microsoft Macintosh PowerPoint</Application>
  <PresentationFormat>Widescreen</PresentationFormat>
  <Paragraphs>562</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Wells Fargo Personal Banking — 2026 Strategy</dc:title>
  <dc:subject>PptxGenJS Presentation</dc:subject>
  <dc:creator>Wells Fargo AI Strategy</dc:creator>
  <cp:lastModifiedBy>KASIPERUMAL A</cp:lastModifiedBy>
  <cp:revision>6</cp:revision>
  <dcterms:created xsi:type="dcterms:W3CDTF">2026-05-25T04:42:52Z</dcterms:created>
  <dcterms:modified xsi:type="dcterms:W3CDTF">2026-05-25T05:34:28Z</dcterms:modified>
</cp:coreProperties>
</file>